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建议讲解约15秒</a:t>
            </a:r>
          </a:p>
          <a:p>
            <a:endParaRPr/>
          </a:p>
          <a:p>
            <a:r>
              <a:t>老师好，下面介绍化工知识增强与工具调用系统。这个项目将本地专业知识、大模型任务规划和工程计算工具整合到一个工作台，支持从自然语言提问到结果展示、依据查看和任务导出的完整操作。</a:t>
            </a:r>
          </a:p>
          <a:p>
            <a:endParaRPr/>
          </a:p>
          <a:p>
            <a:r>
              <a:t>资料来源</a:t>
            </a:r>
          </a:p>
          <a:p>
            <a:r>
              <a:t>E:/Python PyCharm/chem-agent/docs/面向化工领域专业知识的大模型知识增强与工具调用研究报告.docx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建议讲解约30秒</a:t>
            </a:r>
          </a:p>
          <a:p>
            <a:endParaRPr/>
          </a:p>
          <a:p>
            <a:r>
              <a:t>化工问题通常同时涉及专业概念、物理量、单位和工况条件。用户既希望得到计算结果，也希望了解公式、适用条件和资料依据。</a:t>
            </a:r>
          </a:p>
          <a:p>
            <a:endParaRPr/>
          </a:p>
          <a:p>
            <a:r>
              <a:t>围绕这样的需求，项目提供知识问答、单位换算、显热计算和混合衡算，并支持在同一对话中补充参数。交付内容包括专业知识库、知识增强与工具调用算法，以及源码和研究报告。</a:t>
            </a:r>
          </a:p>
          <a:p>
            <a:endParaRPr/>
          </a:p>
          <a:p>
            <a:r>
              <a:t>资料来源</a:t>
            </a:r>
          </a:p>
          <a:p>
            <a:r>
              <a:t>E:/Python PyCharm/chem-agent/docs/面向化工领域专业知识的大模型知识增强与工具调用研究报告.docx</a:t>
            </a:r>
          </a:p>
          <a:p>
            <a:r>
              <a:t>E:/Python PyCharm/chem-agent/README.md</a:t>
            </a:r>
          </a:p>
          <a:p>
            <a:r>
              <a:t>E:/Python PyCharm/chem-agent/docs/CONTRACT_COMPLIANCE.md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建议讲解约40秒</a:t>
            </a:r>
          </a:p>
          <a:p>
            <a:endParaRPr/>
          </a:p>
          <a:p>
            <a:r>
              <a:t>系统采用独立前后端。前端负责交互，FastAPI后端提供任务、会话和导出接口，Pydantic校验请求结构。后端复用smolagents的ToolCallingAgent，通过API接入DeepSeek。</a:t>
            </a:r>
          </a:p>
          <a:p>
            <a:endParaRPr/>
          </a:p>
          <a:p>
            <a:r>
              <a:t>大模型承担任务分析和工具选择，执行器完成参数检查及实际调用。LightRAG提供专业知识检索，Python函数与Pint单位库完成确定性数值运算。应用以统一任务记录连接各层，并保存计划、参数、结果和引用。</a:t>
            </a:r>
          </a:p>
          <a:p>
            <a:endParaRPr/>
          </a:p>
          <a:p>
            <a:r>
              <a:t>资料来源</a:t>
            </a:r>
          </a:p>
          <a:p>
            <a:r>
              <a:t>E:/Python PyCharm/chem-agent/docs/面向化工领域专业知识的大模型知识增强与工具调用研究报告.docx</a:t>
            </a:r>
          </a:p>
          <a:p>
            <a:r>
              <a:t>E:/Python PyCharm/chem-agent/src/chem_agent/agent.py</a:t>
            </a:r>
          </a:p>
          <a:p>
            <a:r>
              <a:t>E:/Python PyCharm/chem-agent/src/chem_agent/ui.py</a:t>
            </a:r>
          </a:p>
          <a:p>
            <a:r>
              <a:t>E:/Python PyCharm/chem-agent/src/chem_agent/web/package.json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建议讲解约60秒</a:t>
            </a:r>
          </a:p>
          <a:p>
            <a:endParaRPr/>
          </a:p>
          <a:p>
            <a:r>
              <a:t>化工RAG分为建索引和在线查询两个阶段。知识库包含71张知识卡，每张卡保存定义或公式、变量单位、适用条件和来源，化工专业性主要体现在这些内容组织上。</a:t>
            </a:r>
          </a:p>
          <a:p>
            <a:endParaRPr/>
          </a:p>
          <a:p>
            <a:r>
              <a:t>建索引时，系统解析并分段知识卡，登记原文与来源，通过DeepSeek抽取实体关系，并用本地BGE中文模型生成向量，交给LightRAG组织和持久化。</a:t>
            </a:r>
          </a:p>
          <a:p>
            <a:endParaRPr/>
          </a:p>
          <a:p>
            <a:r>
              <a:t>在线查询采用mix模式，结合图谱和向量召回相关片段，返回主题词、细节词及局部关系。原文回填模型上下文，答复引用关联到对应知识卡。右侧是实际返回的局部关系图。索引未就绪时使用本地TF-IDF检索，比热等工况参数仍采用用户明确给定的值。</a:t>
            </a:r>
          </a:p>
          <a:p>
            <a:endParaRPr/>
          </a:p>
          <a:p>
            <a:r>
              <a:t>资料来源</a:t>
            </a:r>
          </a:p>
          <a:p>
            <a:r>
              <a:t>E:/Python PyCharm/chem-agent/docs/面向化工领域专业知识的大模型知识增强与工具调用研究报告.docx</a:t>
            </a:r>
          </a:p>
          <a:p>
            <a:r>
              <a:t>E:/Python PyCharm/chem-agent/src/chem_agent/retrieval.py</a:t>
            </a:r>
          </a:p>
          <a:p>
            <a:r>
              <a:t>E:/Python PyCharm/chem-agent/data/knowledge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建议讲解约65秒</a:t>
            </a:r>
          </a:p>
          <a:p>
            <a:endParaRPr/>
          </a:p>
          <a:p>
            <a:r>
              <a:t>工具调用采用单Agent、一次登记计划和逐次执行的策略。后端把知识检索、单位换算、显热和混合衡算封装为smolagents工具，向模型声明工具用途、参数及返回结构。</a:t>
            </a:r>
          </a:p>
          <a:p>
            <a:endParaRPr/>
          </a:p>
          <a:p>
            <a:r>
              <a:t>输入充分后，模型先调用set_plan登记一到六个业务步骤，包括目标、工具名和依赖。每轮模型响应只允许调用一个工具，执行器按depends_on检查依赖完成情况，工具结果再回填给模型。</a:t>
            </a:r>
          </a:p>
          <a:p>
            <a:endParaRPr/>
          </a:p>
          <a:p>
            <a:r>
              <a:t>后续计算通过$ref读取前序工具的真实输出，例如把换算后的流量传入热负荷函数。执行器校验单位、数值范围和比热来源，缺参时请求补充。业务步骤全部成功后，final_answer提交完成状态，程序整理计算答复并保存记录。右侧就是显热任务的实际计划。</a:t>
            </a:r>
          </a:p>
          <a:p>
            <a:endParaRPr/>
          </a:p>
          <a:p>
            <a:r>
              <a:t>资料来源</a:t>
            </a:r>
          </a:p>
          <a:p>
            <a:r>
              <a:t>E:/Python PyCharm/chem-agent/docs/面向化工领域专业知识的大模型知识增强与工具调用研究报告.docx</a:t>
            </a:r>
          </a:p>
          <a:p>
            <a:r>
              <a:t>E:/Python PyCharm/chem-agent/src/chem_agent/agent.py</a:t>
            </a:r>
          </a:p>
          <a:p>
            <a:r>
              <a:t>E:/Python PyCharm/chem-agent/src/chem_agent/execution.py</a:t>
            </a:r>
          </a:p>
          <a:p>
            <a:r>
              <a:t>E:/Python PyCharm/chem-agent/src/chem_agent/tools.py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建议讲解约35秒</a:t>
            </a:r>
          </a:p>
          <a:p>
            <a:endParaRPr/>
          </a:p>
          <a:p>
            <a:r>
              <a:t>前端采用Vue 3、TypeScript和Vite。页面按对话、结果、知识库和图谱拆分组件，TypeScript定义任务、检索及引用的数据结构。</a:t>
            </a:r>
          </a:p>
          <a:p>
            <a:endParaRPr/>
          </a:p>
          <a:p>
            <a:r>
              <a:t>组合式API中的useWorkbench管理会话、提交、任务轮询和连续对话。api.ts集中处理Fetch请求、超时、错误和知识卡缓存。Vite提供独立开发与构建，并将API请求代理到FastAPI后端。模型调用和密钥管理留在后端。</a:t>
            </a:r>
          </a:p>
          <a:p>
            <a:endParaRPr/>
          </a:p>
          <a:p>
            <a:r>
              <a:t>资料来源</a:t>
            </a:r>
          </a:p>
          <a:p>
            <a:r>
              <a:t>E:/Python PyCharm/chem-agent/docs/面向化工领域专业知识的大模型知识增强与工具调用研究报告.docx</a:t>
            </a:r>
          </a:p>
          <a:p>
            <a:r>
              <a:t>E:/Python PyCharm/chem-agent/src/chem_agent/web/package.json</a:t>
            </a:r>
          </a:p>
          <a:p>
            <a:r>
              <a:t>E:/Python PyCharm/chem-agent/src/chem_agent/web/src/composables/useWorkbench.ts</a:t>
            </a:r>
          </a:p>
          <a:p>
            <a:r>
              <a:t>E:/Python PyCharm/chem-agent/src/chem_agent/web/src/services/api.ts</a:t>
            </a:r>
          </a:p>
          <a:p>
            <a:r>
              <a:t>E:/Python PyCharm/chem-agent/src/chem_agent/web/vite.config.ts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建议讲解约30秒</a:t>
            </a:r>
          </a:p>
          <a:p>
            <a:endParaRPr/>
          </a:p>
          <a:p>
            <a:r>
              <a:t>这是独立前端的实际页面。左侧保存对话和知识库入口，中间展示问题、各轮答复及计算结果，右侧提供检索路径、工具调用和引用依据。</a:t>
            </a:r>
          </a:p>
          <a:p>
            <a:endParaRPr/>
          </a:p>
          <a:p>
            <a:r>
              <a:t>补充条件保留在原有对话中，依据栏随所选答复切换。用户可以打开知识卡原文，下载Markdown说明报告和JSON执行记录，将页面上的结果与对应任务过程一起保存。</a:t>
            </a:r>
          </a:p>
          <a:p>
            <a:endParaRPr/>
          </a:p>
          <a:p>
            <a:r>
              <a:t>资料来源</a:t>
            </a:r>
          </a:p>
          <a:p>
            <a:r>
              <a:t>E:/Python PyCharm/chem-agent/docs/面向化工领域专业知识的大模型知识增强与工具调用研究报告.docx</a:t>
            </a:r>
          </a:p>
          <a:p>
            <a:r>
              <a:t>E:/Python PyCharm/chem-agent/src/chem_agent/web/src/App.vue</a:t>
            </a:r>
          </a:p>
          <a:p>
            <a:r>
              <a:t>E:/Python PyCharm/chem-agent/src/chem_agent/web/src/composables/useWorkbench.ts</a:t>
            </a:r>
          </a:p>
          <a:p>
            <a:r>
              <a:t>E:/Python PyCharm/chem-agent/src/chem_agent/web/vite.config.ts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建议讲解约50秒</a:t>
            </a:r>
          </a:p>
          <a:p>
            <a:endParaRPr/>
          </a:p>
          <a:p>
            <a:r>
              <a:t>左侧是单相显热案例。液体流量1000千克每小时，从25摄氏度加热至65摄氏度，给定比热4.18千焦每千克开。系统先换算质量流量，再计算热负荷，得到约46.44千瓦。</a:t>
            </a:r>
          </a:p>
          <a:p>
            <a:endParaRPr/>
          </a:p>
          <a:p>
            <a:r>
              <a:t>右侧将100千克每小时、盐质量分数百分之五的盐水，与400千克每小时纯水混合，得到总流量500千克每小时、盐质量分数百分之一。再按给定的相同比热加热至65摄氏度，得到23.22千瓦。这个任务连接检索、混合、换算和显热四种工具，沿用真实中间结果和明确的计算假设。</a:t>
            </a:r>
          </a:p>
          <a:p>
            <a:endParaRPr/>
          </a:p>
          <a:p>
            <a:r>
              <a:t>资料来源</a:t>
            </a:r>
          </a:p>
          <a:p>
            <a:r>
              <a:t>E:/Python PyCharm/chem-agent/docs/面向化工领域专业知识的大模型知识增强与工具调用研究报告.docx</a:t>
            </a:r>
          </a:p>
          <a:p>
            <a:r>
              <a:t>E:/Python PyCharm/chem-agent/docs/研究报告验证记录.json</a:t>
            </a:r>
          </a:p>
          <a:p>
            <a:r>
              <a:t>E:/Python PyCharm/chem-agent/src/chem_agent/calculations.py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建议讲解约45秒</a:t>
            </a:r>
          </a:p>
          <a:p>
            <a:endParaRPr/>
          </a:p>
          <a:p>
            <a:r>
              <a:t>连续补参案例首轮给出流量1800千克每小时、温度20至70摄氏度，比热未知，系统先请求补充。</a:t>
            </a:r>
          </a:p>
          <a:p>
            <a:endParaRPr/>
          </a:p>
          <a:p>
            <a:r>
              <a:t>用户在同一对话中补充比热3.6千焦每千克开，其他条件不变。系统结合原条件和新增输入，得到流量0.5千克每秒、温差50开，热负荷90千瓦。前后执行通过父任务关系关联，界面保留原问题、补充条件、各轮结果及对应依据。</a:t>
            </a:r>
          </a:p>
          <a:p>
            <a:endParaRPr/>
          </a:p>
          <a:p>
            <a:r>
              <a:t>资料来源</a:t>
            </a:r>
          </a:p>
          <a:p>
            <a:r>
              <a:t>E:/Python PyCharm/chem-agent/docs/面向化工领域专业知识的大模型知识增强与工具调用研究报告.docx</a:t>
            </a:r>
          </a:p>
          <a:p>
            <a:r>
              <a:t>E:/Python PyCharm/chem-agent/docs/研究报告验证记录.json</a:t>
            </a:r>
          </a:p>
          <a:p>
            <a:r>
              <a:t>E:/Python PyCharm/chem-agent/src/chem_agent/web/src/utils/conversations.ts</a:t>
            </a:r>
          </a:p>
          <a:p>
            <a:r>
              <a:t>E:/Python PyCharm/chem-agent/src/chem_agent/ui.py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建议讲解约20秒</a:t>
            </a:r>
          </a:p>
          <a:p>
            <a:endParaRPr/>
          </a:p>
          <a:p>
            <a:r>
              <a:t>项目已经形成专业知识库、任务规划与工具调用算法、独立前后端、源码包和研究报告，支持化工知识问答与基础工程计算，并可查看和导出依据。以上是项目的整体情况，请老师指导。</a:t>
            </a:r>
          </a:p>
          <a:p>
            <a:endParaRPr/>
          </a:p>
          <a:p>
            <a:r>
              <a:t>资料来源</a:t>
            </a:r>
          </a:p>
          <a:p>
            <a:r>
              <a:t>E:/Python PyCharm/chem-agent/docs/面向化工领域专业知识的大模型知识增强与工具调用研究报告.docx</a:t>
            </a:r>
          </a:p>
          <a:p>
            <a:r>
              <a:t>E:/Python PyCharm/chem-agent/README.md</a:t>
            </a:r>
          </a:p>
          <a:p>
            <a:r>
              <a:t>E:/Python PyCharm/chem-agent/docs/研究报告验证记录.json</a:t>
            </a:r>
          </a:p>
          <a:p>
            <a:r>
              <a:t>E:/Python PyCharm/chem-agent/scripts/package.py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F36790B7-8836-425D-A0D5-33EEDC859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07E5E373-CDBC-4ED7-98CE-9AD9D66AFA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5F9A2762-6D05-4A4D-899B-95BCFA400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75747DD-AE3D-4D78-9E59-7E38CAED1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8AAB9DF5-1F25-4EFC-BE6C-6CAD7DCB7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27D3D56-D838-468C-852C-F6CE215F2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B63E8AD-57A6-45CD-8C40-8E2F09FC2C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F97B687E-3E93-44A4-8318-D43884D704A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D49A460-691D-4C45-A1D4-49B357812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50D624B-981D-4DC5-8393-4003B9E9A6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D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age-number">
            <a:extLst>
              <a:ext uri="{FF2B5EF4-FFF2-40B4-BE49-F238E27FC236}">
                <a16:creationId xmlns:a16="http://schemas.microsoft.com/office/drawing/2014/main" id="{A1751A10-7A68-40F7-BDB3-ABEFAB58BB93}"/>
              </a:ext>
            </a:extLst>
          </p:cNvPr>
          <p:cNvSpPr>
            <a:spLocks noGrp="1"/>
          </p:cNvSpPr>
          <p:nvPr/>
        </p:nvSpPr>
        <p:spPr>
          <a:xfrm>
            <a:off x="11191875" y="64008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B9CCD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b="0">
                <a:solidFill>
                  <a:srgbClr val="B9CC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9CCD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" name="text">
            <a:extLst>
              <a:ext uri="{FF2B5EF4-FFF2-40B4-BE49-F238E27FC236}">
                <a16:creationId xmlns:a16="http://schemas.microsoft.com/office/drawing/2014/main" id="{5D50BE61-D947-405B-B147-0DD917759836}"/>
              </a:ext>
            </a:extLst>
          </p:cNvPr>
          <p:cNvSpPr>
            <a:spLocks noGrp="1"/>
          </p:cNvSpPr>
          <p:nvPr/>
        </p:nvSpPr>
        <p:spPr>
          <a:xfrm>
            <a:off x="762000" y="790575"/>
            <a:ext cx="6858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B9CCD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100" b="0">
                <a:solidFill>
                  <a:srgbClr val="B9CC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B9CCD0"/>
                </a:solidFill>
                <a:latin typeface="Microsoft YaHei"/>
                <a:ea typeface="Microsoft YaHei"/>
                <a:cs typeface="Microsoft YaHei"/>
              </a:rPr>
              <a:t>北京化工大学</a:t>
            </a:r>
          </a:p>
        </p:txBody>
      </p:sp>
      <p:sp>
        <p:nvSpPr>
          <p:cNvPr id="3" name="deck-title">
            <a:extLst>
              <a:ext uri="{FF2B5EF4-FFF2-40B4-BE49-F238E27FC236}">
                <a16:creationId xmlns:a16="http://schemas.microsoft.com/office/drawing/2014/main" id="{4642E961-24BD-47EC-8274-E846E49880B6}"/>
              </a:ext>
            </a:extLst>
          </p:cNvPr>
          <p:cNvSpPr>
            <a:spLocks noGrp="1"/>
          </p:cNvSpPr>
          <p:nvPr/>
        </p:nvSpPr>
        <p:spPr>
          <a:xfrm>
            <a:off x="762000" y="2599238"/>
            <a:ext cx="9620250" cy="136316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5100" b="1">
                <a:solidFill>
                  <a:srgbClr val="F5F8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5100" b="1">
                <a:solidFill>
                  <a:srgbClr val="F5F8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 dirty="0" err="1">
                <a:solidFill>
                  <a:srgbClr val="F5F8F8"/>
                </a:solidFill>
                <a:latin typeface="Microsoft YaHei"/>
                <a:ea typeface="Microsoft YaHei"/>
                <a:cs typeface="Microsoft YaHei"/>
              </a:rPr>
              <a:t>化工知识增强与工具调用系统</a:t>
            </a:r>
            <a:endParaRPr sz="5100" b="1" dirty="0">
              <a:solidFill>
                <a:srgbClr val="F5F8F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B4126EF3-EF88-4606-8863-224B31958978}"/>
              </a:ext>
            </a:extLst>
          </p:cNvPr>
          <p:cNvSpPr>
            <a:spLocks noGrp="1"/>
          </p:cNvSpPr>
          <p:nvPr/>
        </p:nvSpPr>
        <p:spPr>
          <a:xfrm>
            <a:off x="800100" y="4543425"/>
            <a:ext cx="78105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0">
                <a:solidFill>
                  <a:srgbClr val="62D2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400" b="0">
                <a:solidFill>
                  <a:srgbClr val="62D2BC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400" b="0" dirty="0">
                <a:solidFill>
                  <a:srgbClr val="62D2BC"/>
                </a:solidFill>
                <a:latin typeface="Microsoft YaHei"/>
                <a:ea typeface="Microsoft YaHei"/>
                <a:cs typeface="Microsoft YaHei"/>
              </a:rPr>
              <a:t>软件</a:t>
            </a:r>
            <a:r>
              <a:rPr sz="2400" b="0" dirty="0" err="1">
                <a:solidFill>
                  <a:srgbClr val="62D2BC"/>
                </a:solidFill>
                <a:latin typeface="Microsoft YaHei"/>
                <a:ea typeface="Microsoft YaHei"/>
                <a:cs typeface="Microsoft YaHei"/>
              </a:rPr>
              <a:t>项目介绍</a:t>
            </a:r>
            <a:endParaRPr sz="2400" b="0" dirty="0">
              <a:solidFill>
                <a:srgbClr val="62D2B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C96A5240-20F9-4D6A-B95F-20842643725C}"/>
              </a:ext>
            </a:extLst>
          </p:cNvPr>
          <p:cNvSpPr>
            <a:spLocks noGrp="1"/>
          </p:cNvSpPr>
          <p:nvPr/>
        </p:nvSpPr>
        <p:spPr>
          <a:xfrm>
            <a:off x="800100" y="5581650"/>
            <a:ext cx="104775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B9CCD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100" b="0">
                <a:solidFill>
                  <a:srgbClr val="B9CC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B9CCD0"/>
                </a:solidFill>
                <a:latin typeface="Microsoft YaHei"/>
                <a:ea typeface="Microsoft YaHei"/>
                <a:cs typeface="Microsoft YaHei"/>
              </a:rPr>
              <a:t>自然语言问答、专业知识检索与基础工程计算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B3261F7-67D5-4B5D-A03E-BACD750031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500" t="7500" r="26500" b="7500"/>
          <a:stretch/>
        </p:blipFill>
        <p:spPr>
          <a:xfrm>
            <a:off x="9620250" y="647700"/>
            <a:ext cx="1676400" cy="1676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947096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-title">
            <a:extLst>
              <a:ext uri="{FF2B5EF4-FFF2-40B4-BE49-F238E27FC236}">
                <a16:creationId xmlns:a16="http://schemas.microsoft.com/office/drawing/2014/main" id="{0538FFB0-353D-4515-A9B4-8B85B753C96B}"/>
              </a:ext>
            </a:extLst>
          </p:cNvPr>
          <p:cNvSpPr>
            <a:spLocks noGrp="1"/>
          </p:cNvSpPr>
          <p:nvPr/>
        </p:nvSpPr>
        <p:spPr>
          <a:xfrm>
            <a:off x="685800" y="466725"/>
            <a:ext cx="108204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525" b="1">
                <a:solidFill>
                  <a:srgbClr val="1539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525" b="1">
                <a:solidFill>
                  <a:srgbClr val="153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5394A"/>
                </a:solidFill>
                <a:latin typeface="Microsoft YaHei"/>
                <a:ea typeface="Microsoft YaHei"/>
                <a:cs typeface="Microsoft YaHei"/>
              </a:rPr>
              <a:t>项目目标与主要功能</a:t>
            </a:r>
          </a:p>
        </p:txBody>
      </p:sp>
      <p:sp>
        <p:nvSpPr>
          <p:cNvPr id="2" name="page-number">
            <a:extLst>
              <a:ext uri="{FF2B5EF4-FFF2-40B4-BE49-F238E27FC236}">
                <a16:creationId xmlns:a16="http://schemas.microsoft.com/office/drawing/2014/main" id="{BB1B0EDE-4A05-42DF-A144-EA94C1ED44A2}"/>
              </a:ext>
            </a:extLst>
          </p:cNvPr>
          <p:cNvSpPr>
            <a:spLocks noGrp="1"/>
          </p:cNvSpPr>
          <p:nvPr/>
        </p:nvSpPr>
        <p:spPr>
          <a:xfrm>
            <a:off x="11191875" y="64008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973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b="0">
                <a:solidFill>
                  <a:srgbClr val="5973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9738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06987C23-B65B-4C02-8AD1-EBEB28AE3AB6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46672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17796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325" b="1">
                <a:solidFill>
                  <a:srgbClr val="1779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796F"/>
                </a:solidFill>
                <a:latin typeface="Microsoft YaHei"/>
                <a:ea typeface="Microsoft YaHei"/>
                <a:cs typeface="Microsoft YaHei"/>
              </a:rPr>
              <a:t>用户输入一个化工问题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C8C11E5A-9119-4217-AE73-C42B8BB41DBB}"/>
              </a:ext>
            </a:extLst>
          </p:cNvPr>
          <p:cNvSpPr>
            <a:spLocks noGrp="1"/>
          </p:cNvSpPr>
          <p:nvPr/>
        </p:nvSpPr>
        <p:spPr>
          <a:xfrm>
            <a:off x="685800" y="2533650"/>
            <a:ext cx="4857750" cy="1809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1539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175" b="0">
                <a:solidFill>
                  <a:srgbClr val="153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 dirty="0">
                <a:solidFill>
                  <a:srgbClr val="15394A"/>
                </a:solidFill>
                <a:latin typeface="Microsoft YaHei"/>
                <a:ea typeface="Microsoft YaHei"/>
                <a:cs typeface="Microsoft YaHei"/>
              </a:rPr>
              <a:t>“</a:t>
            </a:r>
            <a:r>
              <a:rPr sz="2175" b="0" dirty="0" err="1">
                <a:solidFill>
                  <a:srgbClr val="15394A"/>
                </a:solidFill>
                <a:latin typeface="Microsoft YaHei"/>
                <a:ea typeface="Microsoft YaHei"/>
                <a:cs typeface="Microsoft YaHei"/>
              </a:rPr>
              <a:t>某液体加热至目标温度</a:t>
            </a:r>
            <a:r>
              <a:rPr sz="2175" b="0" dirty="0">
                <a:solidFill>
                  <a:srgbClr val="15394A"/>
                </a:solidFill>
                <a:latin typeface="Microsoft YaHei"/>
                <a:ea typeface="Microsoft YaHei"/>
                <a:cs typeface="Microsoft YaHei"/>
              </a:rPr>
              <a:t>，</a:t>
            </a:r>
          </a:p>
          <a:p>
            <a:pPr algn="l">
              <a:defRPr sz="2175" b="0">
                <a:solidFill>
                  <a:srgbClr val="153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 dirty="0" err="1">
                <a:solidFill>
                  <a:srgbClr val="15394A"/>
                </a:solidFill>
                <a:latin typeface="Microsoft YaHei"/>
                <a:ea typeface="Microsoft YaHei"/>
                <a:cs typeface="Microsoft YaHei"/>
              </a:rPr>
              <a:t>请按给定流量、比热计算热负荷</a:t>
            </a:r>
            <a:r>
              <a:rPr sz="2175" b="0" dirty="0">
                <a:solidFill>
                  <a:srgbClr val="15394A"/>
                </a:solidFill>
                <a:latin typeface="Microsoft YaHei"/>
                <a:ea typeface="Microsoft YaHei"/>
                <a:cs typeface="Microsoft YaHei"/>
              </a:rPr>
              <a:t>，</a:t>
            </a:r>
          </a:p>
          <a:p>
            <a:pPr algn="l">
              <a:defRPr sz="2175" b="0">
                <a:solidFill>
                  <a:srgbClr val="153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 dirty="0" err="1">
                <a:solidFill>
                  <a:srgbClr val="15394A"/>
                </a:solidFill>
                <a:latin typeface="Microsoft YaHei"/>
                <a:ea typeface="Microsoft YaHei"/>
                <a:cs typeface="Microsoft YaHei"/>
              </a:rPr>
              <a:t>并说明适用条件</a:t>
            </a:r>
            <a:r>
              <a:rPr sz="2175" b="0" dirty="0">
                <a:solidFill>
                  <a:srgbClr val="15394A"/>
                </a:solidFill>
                <a:latin typeface="Microsoft YaHei"/>
                <a:ea typeface="Microsoft YaHei"/>
                <a:cs typeface="Microsoft YaHei"/>
              </a:rPr>
              <a:t>。”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3945433C-2D38-4E84-9624-29BE09B16188}"/>
              </a:ext>
            </a:extLst>
          </p:cNvPr>
          <p:cNvSpPr>
            <a:spLocks noGrp="1"/>
          </p:cNvSpPr>
          <p:nvPr/>
        </p:nvSpPr>
        <p:spPr>
          <a:xfrm>
            <a:off x="6286500" y="1714500"/>
            <a:ext cx="4953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17796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175" b="1">
                <a:solidFill>
                  <a:srgbClr val="1779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 dirty="0" err="1">
                <a:solidFill>
                  <a:srgbClr val="17796F"/>
                </a:solidFill>
                <a:latin typeface="Microsoft YaHei"/>
                <a:ea typeface="Microsoft YaHei"/>
                <a:cs typeface="Microsoft YaHei"/>
              </a:rPr>
              <a:t>知识问答</a:t>
            </a:r>
            <a:endParaRPr sz="2175" b="1" dirty="0">
              <a:solidFill>
                <a:srgbClr val="17796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01C7B8BC-E610-4EBE-92FB-0D788CC3550C}"/>
              </a:ext>
            </a:extLst>
          </p:cNvPr>
          <p:cNvSpPr>
            <a:spLocks noGrp="1"/>
          </p:cNvSpPr>
          <p:nvPr/>
        </p:nvSpPr>
        <p:spPr>
          <a:xfrm>
            <a:off x="6286500" y="2152650"/>
            <a:ext cx="504825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539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025" b="0">
                <a:solidFill>
                  <a:srgbClr val="153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5394A"/>
                </a:solidFill>
                <a:latin typeface="Microsoft YaHei"/>
                <a:ea typeface="Microsoft YaHei"/>
                <a:cs typeface="Microsoft YaHei"/>
              </a:rPr>
              <a:t>检索专业资料并给出原文依据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D75D034A-7E98-4F05-B345-BB165B03809E}"/>
              </a:ext>
            </a:extLst>
          </p:cNvPr>
          <p:cNvSpPr>
            <a:spLocks noGrp="1"/>
          </p:cNvSpPr>
          <p:nvPr/>
        </p:nvSpPr>
        <p:spPr>
          <a:xfrm>
            <a:off x="6286500" y="2981325"/>
            <a:ext cx="4953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17796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175" b="1">
                <a:solidFill>
                  <a:srgbClr val="1779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 dirty="0" err="1">
                <a:solidFill>
                  <a:srgbClr val="17796F"/>
                </a:solidFill>
                <a:latin typeface="Microsoft YaHei"/>
                <a:ea typeface="Microsoft YaHei"/>
                <a:cs typeface="Microsoft YaHei"/>
              </a:rPr>
              <a:t>工程计算</a:t>
            </a:r>
            <a:endParaRPr sz="2175" b="1" dirty="0">
              <a:solidFill>
                <a:srgbClr val="17796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B77E6CCD-E1D2-4416-A628-AF52CC39DB2D}"/>
              </a:ext>
            </a:extLst>
          </p:cNvPr>
          <p:cNvSpPr>
            <a:spLocks noGrp="1"/>
          </p:cNvSpPr>
          <p:nvPr/>
        </p:nvSpPr>
        <p:spPr>
          <a:xfrm>
            <a:off x="6286500" y="3419475"/>
            <a:ext cx="50482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539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025" b="0">
                <a:solidFill>
                  <a:srgbClr val="153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5394A"/>
                </a:solidFill>
                <a:latin typeface="Microsoft YaHei"/>
                <a:ea typeface="Microsoft YaHei"/>
                <a:cs typeface="Microsoft YaHei"/>
              </a:rPr>
              <a:t>换算单位、计算显热和混合衡算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009930D9-F661-417C-A891-D2DE50962F96}"/>
              </a:ext>
            </a:extLst>
          </p:cNvPr>
          <p:cNvSpPr>
            <a:spLocks noGrp="1"/>
          </p:cNvSpPr>
          <p:nvPr/>
        </p:nvSpPr>
        <p:spPr>
          <a:xfrm>
            <a:off x="6286500" y="4267200"/>
            <a:ext cx="4953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17796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175" b="1">
                <a:solidFill>
                  <a:srgbClr val="1779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 dirty="0" err="1">
                <a:solidFill>
                  <a:srgbClr val="17796F"/>
                </a:solidFill>
                <a:latin typeface="Microsoft YaHei"/>
                <a:ea typeface="Microsoft YaHei"/>
                <a:cs typeface="Microsoft YaHei"/>
              </a:rPr>
              <a:t>连续追问</a:t>
            </a:r>
            <a:endParaRPr sz="2175" b="1" dirty="0">
              <a:solidFill>
                <a:srgbClr val="17796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1471E00C-0E0A-4DE7-8A26-7F46779C638E}"/>
              </a:ext>
            </a:extLst>
          </p:cNvPr>
          <p:cNvSpPr>
            <a:spLocks noGrp="1"/>
          </p:cNvSpPr>
          <p:nvPr/>
        </p:nvSpPr>
        <p:spPr>
          <a:xfrm>
            <a:off x="6286500" y="4705350"/>
            <a:ext cx="50482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539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025" b="0">
                <a:solidFill>
                  <a:srgbClr val="153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5394A"/>
                </a:solidFill>
                <a:latin typeface="Microsoft YaHei"/>
                <a:ea typeface="Microsoft YaHei"/>
                <a:cs typeface="Microsoft YaHei"/>
              </a:rPr>
              <a:t>补充条件后沿用原问题继续处理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C7817576-1168-4F7F-847E-466C009CAFD1}"/>
              </a:ext>
            </a:extLst>
          </p:cNvPr>
          <p:cNvSpPr>
            <a:spLocks noGrp="1"/>
          </p:cNvSpPr>
          <p:nvPr/>
        </p:nvSpPr>
        <p:spPr>
          <a:xfrm>
            <a:off x="685800" y="5753100"/>
            <a:ext cx="1076325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539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100" b="1">
                <a:solidFill>
                  <a:srgbClr val="153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5394A"/>
                </a:solidFill>
                <a:latin typeface="Microsoft YaHei"/>
                <a:ea typeface="Microsoft YaHei"/>
                <a:cs typeface="Microsoft YaHei"/>
              </a:rPr>
              <a:t>交付专业知识库、工具调用算法、完整源码与研究报告</a:t>
            </a:r>
          </a:p>
        </p:txBody>
      </p:sp>
    </p:spTree>
    <p:extLst>
      <p:ext uri="{BB962C8B-B14F-4D97-AF65-F5344CB8AC3E}">
        <p14:creationId xmlns:p14="http://schemas.microsoft.com/office/powerpoint/2010/main" val="671868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-title">
            <a:extLst>
              <a:ext uri="{FF2B5EF4-FFF2-40B4-BE49-F238E27FC236}">
                <a16:creationId xmlns:a16="http://schemas.microsoft.com/office/drawing/2014/main" id="{E4BC9076-E347-4BC5-BE91-8FE0EF6B0569}"/>
              </a:ext>
            </a:extLst>
          </p:cNvPr>
          <p:cNvSpPr>
            <a:spLocks noGrp="1"/>
          </p:cNvSpPr>
          <p:nvPr/>
        </p:nvSpPr>
        <p:spPr>
          <a:xfrm>
            <a:off x="685800" y="466725"/>
            <a:ext cx="108204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525" b="1">
                <a:solidFill>
                  <a:srgbClr val="1539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525" b="1">
                <a:solidFill>
                  <a:srgbClr val="153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5394A"/>
                </a:solidFill>
                <a:latin typeface="Microsoft YaHei"/>
                <a:ea typeface="Microsoft YaHei"/>
                <a:cs typeface="Microsoft YaHei"/>
              </a:rPr>
              <a:t>系统架构与职责分工</a:t>
            </a:r>
          </a:p>
        </p:txBody>
      </p:sp>
      <p:sp>
        <p:nvSpPr>
          <p:cNvPr id="2" name="page-number">
            <a:extLst>
              <a:ext uri="{FF2B5EF4-FFF2-40B4-BE49-F238E27FC236}">
                <a16:creationId xmlns:a16="http://schemas.microsoft.com/office/drawing/2014/main" id="{B01E8FEB-1CBC-408F-8BE2-7D1ED452EDC9}"/>
              </a:ext>
            </a:extLst>
          </p:cNvPr>
          <p:cNvSpPr>
            <a:spLocks noGrp="1"/>
          </p:cNvSpPr>
          <p:nvPr/>
        </p:nvSpPr>
        <p:spPr>
          <a:xfrm>
            <a:off x="11191875" y="64008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973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b="0">
                <a:solidFill>
                  <a:srgbClr val="5973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9738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0117EBE4-EE6C-46EC-BE40-0B0C38871566}"/>
              </a:ext>
            </a:extLst>
          </p:cNvPr>
          <p:cNvGraphicFramePr/>
          <p:nvPr/>
        </p:nvGraphicFramePr>
        <p:xfrm>
          <a:off x="685800" y="1638300"/>
          <a:ext cx="10820400" cy="3333750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95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层次</a:t>
                      </a:r>
                    </a:p>
                  </a:txBody>
                  <a:tcPr marL="142875" marR="142875" marT="114300" marB="114300" anchor="ctr">
                    <a:solidFill>
                      <a:srgbClr val="1539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主要实现</a:t>
                      </a:r>
                    </a:p>
                  </a:txBody>
                  <a:tcPr marL="142875" marR="142875" marT="114300" marB="114300" anchor="ctr">
                    <a:solidFill>
                      <a:srgbClr val="1539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职责</a:t>
                      </a:r>
                    </a:p>
                  </a:txBody>
                  <a:tcPr marL="142875" marR="142875" marT="114300" marB="114300" anchor="ctr">
                    <a:solidFill>
                      <a:srgbClr val="1539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539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交互层</a:t>
                      </a:r>
                    </a:p>
                  </a:txBody>
                  <a:tcPr marL="142875" marR="142875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539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Vue 3、TypeScript、Vite</a:t>
                      </a:r>
                    </a:p>
                  </a:txBody>
                  <a:tcPr marL="142875" marR="142875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539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问答、结果、知识阅读与过程展示</a:t>
                      </a:r>
                    </a:p>
                  </a:txBody>
                  <a:tcPr marL="142875" marR="142875" marT="114300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539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服务层</a:t>
                      </a:r>
                    </a:p>
                  </a:txBody>
                  <a:tcPr marL="142875" marR="142875" marT="114300" marB="114300" anchor="ctr">
                    <a:solidFill>
                      <a:srgbClr val="F0F5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539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FastAPI</a:t>
                      </a:r>
                    </a:p>
                  </a:txBody>
                  <a:tcPr marL="142875" marR="142875" marT="114300" marB="114300" anchor="ctr">
                    <a:solidFill>
                      <a:srgbClr val="F0F5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539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接收任务、查询状态、会话与导出</a:t>
                      </a:r>
                    </a:p>
                  </a:txBody>
                  <a:tcPr marL="142875" marR="142875" marT="114300" marB="114300" anchor="ctr">
                    <a:solidFill>
                      <a:srgbClr val="F0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539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任务层</a:t>
                      </a:r>
                    </a:p>
                  </a:txBody>
                  <a:tcPr marL="142875" marR="142875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539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smolagents + DeepSeek API</a:t>
                      </a:r>
                    </a:p>
                  </a:txBody>
                  <a:tcPr marL="142875" marR="142875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539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模型规划步骤，执行器校验与调度</a:t>
                      </a:r>
                    </a:p>
                  </a:txBody>
                  <a:tcPr marL="142875" marR="142875" marT="114300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539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知识与计算层</a:t>
                      </a:r>
                    </a:p>
                  </a:txBody>
                  <a:tcPr marL="142875" marR="142875" marT="114300" marB="114300" anchor="ctr">
                    <a:solidFill>
                      <a:srgbClr val="F0F5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539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LightRAG、Python、Pint</a:t>
                      </a:r>
                    </a:p>
                  </a:txBody>
                  <a:tcPr marL="142875" marR="142875" marT="114300" marB="114300" anchor="ctr">
                    <a:solidFill>
                      <a:srgbClr val="F0F5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539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召回专业资料，执行单位及衡算计算</a:t>
                      </a:r>
                    </a:p>
                  </a:txBody>
                  <a:tcPr marL="142875" marR="142875" marT="114300" marB="114300" anchor="ctr">
                    <a:solidFill>
                      <a:srgbClr val="F0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">
            <a:extLst>
              <a:ext uri="{FF2B5EF4-FFF2-40B4-BE49-F238E27FC236}">
                <a16:creationId xmlns:a16="http://schemas.microsoft.com/office/drawing/2014/main" id="{2EE3045F-AA05-4C1C-9CC4-14CB52BFD13D}"/>
              </a:ext>
            </a:extLst>
          </p:cNvPr>
          <p:cNvSpPr>
            <a:spLocks noGrp="1"/>
          </p:cNvSpPr>
          <p:nvPr/>
        </p:nvSpPr>
        <p:spPr>
          <a:xfrm>
            <a:off x="685800" y="5486400"/>
            <a:ext cx="10668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7796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400" b="1">
                <a:solidFill>
                  <a:srgbClr val="1779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796F"/>
                </a:solidFill>
                <a:latin typeface="Microsoft YaHei"/>
                <a:ea typeface="Microsoft YaHei"/>
                <a:cs typeface="Microsoft YaHei"/>
              </a:rPr>
              <a:t>模型完成任务分析，确定性函数完成数值运算</a:t>
            </a:r>
          </a:p>
        </p:txBody>
      </p:sp>
    </p:spTree>
    <p:extLst>
      <p:ext uri="{BB962C8B-B14F-4D97-AF65-F5344CB8AC3E}">
        <p14:creationId xmlns:p14="http://schemas.microsoft.com/office/powerpoint/2010/main" val="1625130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D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-title">
            <a:extLst>
              <a:ext uri="{FF2B5EF4-FFF2-40B4-BE49-F238E27FC236}">
                <a16:creationId xmlns:a16="http://schemas.microsoft.com/office/drawing/2014/main" id="{15897DB9-3E7E-4B44-A713-39B300FE8B1E}"/>
              </a:ext>
            </a:extLst>
          </p:cNvPr>
          <p:cNvSpPr>
            <a:spLocks noGrp="1"/>
          </p:cNvSpPr>
          <p:nvPr/>
        </p:nvSpPr>
        <p:spPr>
          <a:xfrm>
            <a:off x="685800" y="466725"/>
            <a:ext cx="108204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525" b="1">
                <a:solidFill>
                  <a:srgbClr val="F5F8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525" b="1">
                <a:solidFill>
                  <a:srgbClr val="F5F8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8F8"/>
                </a:solidFill>
                <a:latin typeface="Microsoft YaHei"/>
                <a:ea typeface="Microsoft YaHei"/>
                <a:cs typeface="Microsoft YaHei"/>
              </a:rPr>
              <a:t>化工 RAG 建库与查询</a:t>
            </a:r>
          </a:p>
        </p:txBody>
      </p:sp>
      <p:sp>
        <p:nvSpPr>
          <p:cNvPr id="2" name="page-number">
            <a:extLst>
              <a:ext uri="{FF2B5EF4-FFF2-40B4-BE49-F238E27FC236}">
                <a16:creationId xmlns:a16="http://schemas.microsoft.com/office/drawing/2014/main" id="{887B35CB-00E4-4F18-9F2A-988E0804A6EB}"/>
              </a:ext>
            </a:extLst>
          </p:cNvPr>
          <p:cNvSpPr>
            <a:spLocks noGrp="1"/>
          </p:cNvSpPr>
          <p:nvPr/>
        </p:nvSpPr>
        <p:spPr>
          <a:xfrm>
            <a:off x="11191875" y="64008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B9CCD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b="0">
                <a:solidFill>
                  <a:srgbClr val="B9CC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9CCD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76731974-993E-4500-992D-5ECCACA26473}"/>
              </a:ext>
            </a:extLst>
          </p:cNvPr>
          <p:cNvSpPr>
            <a:spLocks noGrp="1"/>
          </p:cNvSpPr>
          <p:nvPr/>
        </p:nvSpPr>
        <p:spPr>
          <a:xfrm>
            <a:off x="685800" y="1514475"/>
            <a:ext cx="20955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5775" b="1">
                <a:solidFill>
                  <a:srgbClr val="62D2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5775" b="1">
                <a:solidFill>
                  <a:srgbClr val="62D2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75" b="1" dirty="0">
                <a:solidFill>
                  <a:srgbClr val="62D2BC"/>
                </a:solidFill>
                <a:latin typeface="Microsoft YaHei"/>
                <a:ea typeface="Microsoft YaHei"/>
                <a:cs typeface="Microsoft YaHei"/>
              </a:rPr>
              <a:t>71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B6D6BBF8-1407-4A31-BB08-12A3C1573001}"/>
              </a:ext>
            </a:extLst>
          </p:cNvPr>
          <p:cNvSpPr>
            <a:spLocks noGrp="1"/>
          </p:cNvSpPr>
          <p:nvPr/>
        </p:nvSpPr>
        <p:spPr>
          <a:xfrm>
            <a:off x="2333625" y="1885950"/>
            <a:ext cx="4381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F5F8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175" b="1">
                <a:solidFill>
                  <a:srgbClr val="F5F8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5F8F8"/>
                </a:solidFill>
                <a:latin typeface="Microsoft YaHei"/>
                <a:ea typeface="Microsoft YaHei"/>
                <a:cs typeface="Microsoft YaHei"/>
              </a:rPr>
              <a:t>张来源可定位的化工知识卡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957AD278-7547-424E-BE82-89FD623A33CA}"/>
              </a:ext>
            </a:extLst>
          </p:cNvPr>
          <p:cNvSpPr>
            <a:spLocks noGrp="1"/>
          </p:cNvSpPr>
          <p:nvPr/>
        </p:nvSpPr>
        <p:spPr>
          <a:xfrm>
            <a:off x="685800" y="2809875"/>
            <a:ext cx="58102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62D2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100" b="1">
                <a:solidFill>
                  <a:srgbClr val="62D2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62D2BC"/>
                </a:solidFill>
                <a:latin typeface="Microsoft YaHei"/>
                <a:ea typeface="Microsoft YaHei"/>
                <a:cs typeface="Microsoft YaHei"/>
              </a:rPr>
              <a:t>建库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9EFC4B96-E620-4423-908C-38BAB046553D}"/>
              </a:ext>
            </a:extLst>
          </p:cNvPr>
          <p:cNvSpPr>
            <a:spLocks noGrp="1"/>
          </p:cNvSpPr>
          <p:nvPr/>
        </p:nvSpPr>
        <p:spPr>
          <a:xfrm>
            <a:off x="685800" y="3219450"/>
            <a:ext cx="5857875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F5F8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025" b="0">
                <a:solidFill>
                  <a:srgbClr val="F5F8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5F8F8"/>
                </a:solidFill>
                <a:latin typeface="Microsoft YaHei"/>
                <a:ea typeface="Microsoft YaHei"/>
                <a:cs typeface="Microsoft YaHei"/>
              </a:rPr>
              <a:t>解析知识卡、分段并记录来源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C149642A-B181-4ECC-BF80-482D1C709DD3}"/>
              </a:ext>
            </a:extLst>
          </p:cNvPr>
          <p:cNvSpPr>
            <a:spLocks noGrp="1"/>
          </p:cNvSpPr>
          <p:nvPr/>
        </p:nvSpPr>
        <p:spPr>
          <a:xfrm>
            <a:off x="685800" y="3857625"/>
            <a:ext cx="58102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62D2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100" b="1">
                <a:solidFill>
                  <a:srgbClr val="62D2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62D2BC"/>
                </a:solidFill>
                <a:latin typeface="Microsoft YaHei"/>
                <a:ea typeface="Microsoft YaHei"/>
                <a:cs typeface="Microsoft YaHei"/>
              </a:rPr>
              <a:t>索引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2BE4115C-48AC-473E-BC4A-15FFBBB8E4E7}"/>
              </a:ext>
            </a:extLst>
          </p:cNvPr>
          <p:cNvSpPr>
            <a:spLocks noGrp="1"/>
          </p:cNvSpPr>
          <p:nvPr/>
        </p:nvSpPr>
        <p:spPr>
          <a:xfrm>
            <a:off x="685800" y="4267200"/>
            <a:ext cx="590550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F5F8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F5F8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 dirty="0">
                <a:solidFill>
                  <a:srgbClr val="F5F8F8"/>
                </a:solidFill>
                <a:latin typeface="Microsoft YaHei"/>
                <a:ea typeface="Microsoft YaHei"/>
                <a:cs typeface="Microsoft YaHei"/>
              </a:rPr>
              <a:t>DeepSeek </a:t>
            </a:r>
            <a:r>
              <a:rPr sz="1875" b="0" dirty="0" err="1">
                <a:solidFill>
                  <a:srgbClr val="F5F8F8"/>
                </a:solidFill>
                <a:latin typeface="Microsoft YaHei"/>
                <a:ea typeface="Microsoft YaHei"/>
                <a:cs typeface="Microsoft YaHei"/>
              </a:rPr>
              <a:t>抽取关系，本地</a:t>
            </a:r>
            <a:r>
              <a:rPr sz="1875" b="0" dirty="0">
                <a:solidFill>
                  <a:srgbClr val="F5F8F8"/>
                </a:solidFill>
                <a:latin typeface="Microsoft YaHei"/>
                <a:ea typeface="Microsoft YaHei"/>
                <a:cs typeface="Microsoft YaHei"/>
              </a:rPr>
              <a:t> BGE </a:t>
            </a:r>
            <a:r>
              <a:rPr sz="1875" b="0" dirty="0" err="1">
                <a:solidFill>
                  <a:srgbClr val="F5F8F8"/>
                </a:solidFill>
                <a:latin typeface="Microsoft YaHei"/>
                <a:ea typeface="Microsoft YaHei"/>
                <a:cs typeface="Microsoft YaHei"/>
              </a:rPr>
              <a:t>编码向量</a:t>
            </a:r>
            <a:endParaRPr sz="1875" b="0" dirty="0">
              <a:solidFill>
                <a:srgbClr val="F5F8F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9AED8428-6453-4A85-9E0F-7FDE94D61FDB}"/>
              </a:ext>
            </a:extLst>
          </p:cNvPr>
          <p:cNvSpPr>
            <a:spLocks noGrp="1"/>
          </p:cNvSpPr>
          <p:nvPr/>
        </p:nvSpPr>
        <p:spPr>
          <a:xfrm>
            <a:off x="685800" y="4886325"/>
            <a:ext cx="58102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62D2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100" b="1">
                <a:solidFill>
                  <a:srgbClr val="62D2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62D2BC"/>
                </a:solidFill>
                <a:latin typeface="Microsoft YaHei"/>
                <a:ea typeface="Microsoft YaHei"/>
                <a:cs typeface="Microsoft YaHei"/>
              </a:rPr>
              <a:t>查询与增强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CD6E83C7-3793-49D4-B1EF-4D04368D4CE4}"/>
              </a:ext>
            </a:extLst>
          </p:cNvPr>
          <p:cNvSpPr>
            <a:spLocks noGrp="1"/>
          </p:cNvSpPr>
          <p:nvPr/>
        </p:nvSpPr>
        <p:spPr>
          <a:xfrm>
            <a:off x="685800" y="5295900"/>
            <a:ext cx="5953125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F5F8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F5F8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 dirty="0" err="1">
                <a:solidFill>
                  <a:srgbClr val="F5F8F8"/>
                </a:solidFill>
                <a:latin typeface="Microsoft YaHei"/>
                <a:ea typeface="Microsoft YaHei"/>
                <a:cs typeface="Microsoft YaHei"/>
              </a:rPr>
              <a:t>LightRAG</a:t>
            </a:r>
            <a:r>
              <a:rPr sz="1875" b="0" dirty="0">
                <a:solidFill>
                  <a:srgbClr val="F5F8F8"/>
                </a:solidFill>
                <a:latin typeface="Microsoft YaHei"/>
                <a:ea typeface="Microsoft YaHei"/>
                <a:cs typeface="Microsoft YaHei"/>
              </a:rPr>
              <a:t> mix </a:t>
            </a:r>
            <a:r>
              <a:rPr sz="1875" b="0" dirty="0" err="1">
                <a:solidFill>
                  <a:srgbClr val="F5F8F8"/>
                </a:solidFill>
                <a:latin typeface="Microsoft YaHei"/>
                <a:ea typeface="Microsoft YaHei"/>
                <a:cs typeface="Microsoft YaHei"/>
              </a:rPr>
              <a:t>联合召回，原文回填与引用</a:t>
            </a:r>
            <a:endParaRPr sz="1875" b="0" dirty="0">
              <a:solidFill>
                <a:srgbClr val="F5F8F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3724533F-EA1E-4746-81A8-697BDC136B71}"/>
              </a:ext>
            </a:extLst>
          </p:cNvPr>
          <p:cNvSpPr>
            <a:spLocks noGrp="1"/>
          </p:cNvSpPr>
          <p:nvPr/>
        </p:nvSpPr>
        <p:spPr>
          <a:xfrm>
            <a:off x="685800" y="6048375"/>
            <a:ext cx="59531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B9CCD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0">
                <a:solidFill>
                  <a:srgbClr val="B9CC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 dirty="0" err="1">
                <a:solidFill>
                  <a:srgbClr val="B9CCD0"/>
                </a:solidFill>
                <a:latin typeface="Microsoft YaHei"/>
                <a:ea typeface="Microsoft YaHei"/>
                <a:cs typeface="Microsoft YaHei"/>
              </a:rPr>
              <a:t>索引未就绪时采用本地</a:t>
            </a:r>
            <a:r>
              <a:rPr sz="1650" b="0" dirty="0">
                <a:solidFill>
                  <a:srgbClr val="B9CCD0"/>
                </a:solidFill>
                <a:latin typeface="Microsoft YaHei"/>
                <a:ea typeface="Microsoft YaHei"/>
                <a:cs typeface="Microsoft YaHei"/>
              </a:rPr>
              <a:t> TF-IDF </a:t>
            </a:r>
            <a:r>
              <a:rPr sz="1650" b="0" dirty="0" err="1">
                <a:solidFill>
                  <a:srgbClr val="B9CCD0"/>
                </a:solidFill>
                <a:latin typeface="Microsoft YaHei"/>
                <a:ea typeface="Microsoft YaHei"/>
                <a:cs typeface="Microsoft YaHei"/>
              </a:rPr>
              <a:t>检索</a:t>
            </a:r>
            <a:endParaRPr sz="1650" b="0" dirty="0">
              <a:solidFill>
                <a:srgbClr val="B9CCD0"/>
              </a:solidFill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4F9A3E40-5D8B-407A-86AF-E9D1E0AEE3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000" t="11600" r="44100" b="19700"/>
          <a:stretch/>
        </p:blipFill>
        <p:spPr>
          <a:xfrm>
            <a:off x="6905625" y="1524000"/>
            <a:ext cx="4667250" cy="440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2646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-title">
            <a:extLst>
              <a:ext uri="{FF2B5EF4-FFF2-40B4-BE49-F238E27FC236}">
                <a16:creationId xmlns:a16="http://schemas.microsoft.com/office/drawing/2014/main" id="{4541DF42-3E80-4503-898F-58AE23621EE4}"/>
              </a:ext>
            </a:extLst>
          </p:cNvPr>
          <p:cNvSpPr>
            <a:spLocks noGrp="1"/>
          </p:cNvSpPr>
          <p:nvPr/>
        </p:nvSpPr>
        <p:spPr>
          <a:xfrm>
            <a:off x="685800" y="466725"/>
            <a:ext cx="108204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525" b="1">
                <a:solidFill>
                  <a:srgbClr val="1539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525" b="1">
                <a:solidFill>
                  <a:srgbClr val="153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5394A"/>
                </a:solidFill>
                <a:latin typeface="Microsoft YaHei"/>
                <a:ea typeface="Microsoft YaHei"/>
                <a:cs typeface="Microsoft YaHei"/>
              </a:rPr>
              <a:t>后端框架与工具调用策略</a:t>
            </a:r>
          </a:p>
        </p:txBody>
      </p:sp>
      <p:sp>
        <p:nvSpPr>
          <p:cNvPr id="2" name="page-number">
            <a:extLst>
              <a:ext uri="{FF2B5EF4-FFF2-40B4-BE49-F238E27FC236}">
                <a16:creationId xmlns:a16="http://schemas.microsoft.com/office/drawing/2014/main" id="{7C6696A6-1AE6-4BCE-88EB-6606B23D1F4B}"/>
              </a:ext>
            </a:extLst>
          </p:cNvPr>
          <p:cNvSpPr>
            <a:spLocks noGrp="1"/>
          </p:cNvSpPr>
          <p:nvPr/>
        </p:nvSpPr>
        <p:spPr>
          <a:xfrm>
            <a:off x="11191875" y="64008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973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b="0">
                <a:solidFill>
                  <a:srgbClr val="5973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9738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94171700-3534-4911-AA46-93C9C88D0BB7}"/>
              </a:ext>
            </a:extLst>
          </p:cNvPr>
          <p:cNvSpPr>
            <a:spLocks noGrp="1"/>
          </p:cNvSpPr>
          <p:nvPr/>
        </p:nvSpPr>
        <p:spPr>
          <a:xfrm>
            <a:off x="685800" y="1609725"/>
            <a:ext cx="5905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17796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325" b="1">
                <a:solidFill>
                  <a:srgbClr val="1779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796F"/>
                </a:solidFill>
                <a:latin typeface="Microsoft YaHei"/>
                <a:ea typeface="Microsoft YaHei"/>
                <a:cs typeface="Microsoft YaHei"/>
              </a:rPr>
              <a:t>smolagents</a:t>
            </a:r>
            <a:r>
              <a:rPr sz="2325" b="1" dirty="0">
                <a:solidFill>
                  <a:srgbClr val="17796F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796F"/>
                </a:solidFill>
                <a:latin typeface="Microsoft YaHei"/>
                <a:ea typeface="Microsoft YaHei"/>
                <a:cs typeface="Microsoft YaHei"/>
              </a:rPr>
              <a:t>ToolCallingAgent</a:t>
            </a:r>
            <a:endParaRPr sz="2325" b="1" dirty="0">
              <a:solidFill>
                <a:srgbClr val="17796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C6933F87-165A-4676-822A-610F42DC2CEB}"/>
              </a:ext>
            </a:extLst>
          </p:cNvPr>
          <p:cNvSpPr>
            <a:spLocks noGrp="1"/>
          </p:cNvSpPr>
          <p:nvPr/>
        </p:nvSpPr>
        <p:spPr>
          <a:xfrm>
            <a:off x="685800" y="2238375"/>
            <a:ext cx="590550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1539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175" b="0">
                <a:solidFill>
                  <a:srgbClr val="153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5394A"/>
                </a:solidFill>
                <a:latin typeface="Microsoft YaHei"/>
                <a:ea typeface="Microsoft YaHei"/>
                <a:cs typeface="Microsoft YaHei"/>
              </a:rPr>
              <a:t>单 Agent，一次登记计划</a:t>
            </a:r>
          </a:p>
          <a:p>
            <a:pPr algn="l">
              <a:defRPr sz="2175" b="0">
                <a:solidFill>
                  <a:srgbClr val="153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5394A"/>
                </a:solidFill>
                <a:latin typeface="Microsoft YaHei"/>
                <a:ea typeface="Microsoft YaHei"/>
                <a:cs typeface="Microsoft YaHei"/>
              </a:rPr>
              <a:t>单轮调用一个工具，结果回填模型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822198A9-DC48-4B8E-ACC5-1A5058B6EFF9}"/>
              </a:ext>
            </a:extLst>
          </p:cNvPr>
          <p:cNvSpPr>
            <a:spLocks noGrp="1"/>
          </p:cNvSpPr>
          <p:nvPr/>
        </p:nvSpPr>
        <p:spPr>
          <a:xfrm>
            <a:off x="685800" y="3448050"/>
            <a:ext cx="59055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539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025" b="1">
                <a:solidFill>
                  <a:srgbClr val="153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dirty="0">
                <a:solidFill>
                  <a:srgbClr val="15394A"/>
                </a:solidFill>
                <a:latin typeface="Microsoft YaHei"/>
                <a:ea typeface="Microsoft YaHei"/>
                <a:cs typeface="Microsoft YaHei"/>
              </a:rPr>
              <a:t>1</a:t>
            </a:r>
            <a:r>
              <a:rPr lang="en-US" sz="2025" b="1" dirty="0">
                <a:solidFill>
                  <a:srgbClr val="15394A"/>
                </a:solidFill>
                <a:latin typeface="Microsoft YaHei"/>
                <a:ea typeface="Microsoft YaHei"/>
                <a:cs typeface="Microsoft YaHei"/>
              </a:rPr>
              <a:t>.</a:t>
            </a:r>
            <a:r>
              <a:rPr sz="2025" b="1" dirty="0">
                <a:solidFill>
                  <a:srgbClr val="15394A"/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2025" b="1" dirty="0" err="1">
                <a:solidFill>
                  <a:srgbClr val="15394A"/>
                </a:solidFill>
                <a:latin typeface="Microsoft YaHei"/>
                <a:ea typeface="Microsoft YaHei"/>
                <a:cs typeface="Microsoft YaHei"/>
              </a:rPr>
              <a:t>set_plan</a:t>
            </a:r>
            <a:r>
              <a:rPr sz="2025" b="1" dirty="0">
                <a:solidFill>
                  <a:srgbClr val="15394A"/>
                </a:solidFill>
                <a:latin typeface="Microsoft YaHei"/>
                <a:ea typeface="Microsoft YaHei"/>
                <a:cs typeface="Microsoft YaHei"/>
              </a:rPr>
              <a:t> 登记1–6个业务步骤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6AF75422-2460-4A1A-BC1B-14CF534BE1AA}"/>
              </a:ext>
            </a:extLst>
          </p:cNvPr>
          <p:cNvSpPr>
            <a:spLocks noGrp="1"/>
          </p:cNvSpPr>
          <p:nvPr/>
        </p:nvSpPr>
        <p:spPr>
          <a:xfrm>
            <a:off x="685800" y="4057650"/>
            <a:ext cx="59055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539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025" b="1">
                <a:solidFill>
                  <a:srgbClr val="153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dirty="0">
                <a:solidFill>
                  <a:srgbClr val="15394A"/>
                </a:solidFill>
                <a:latin typeface="Microsoft YaHei"/>
                <a:ea typeface="Microsoft YaHei"/>
                <a:cs typeface="Microsoft YaHei"/>
              </a:rPr>
              <a:t>2</a:t>
            </a:r>
            <a:r>
              <a:rPr lang="en-US" sz="2025" b="1" dirty="0">
                <a:solidFill>
                  <a:srgbClr val="15394A"/>
                </a:solidFill>
                <a:latin typeface="Microsoft YaHei"/>
                <a:ea typeface="Microsoft YaHei"/>
                <a:cs typeface="Microsoft YaHei"/>
              </a:rPr>
              <a:t>.</a:t>
            </a:r>
            <a:r>
              <a:rPr sz="2025" b="1" dirty="0">
                <a:solidFill>
                  <a:srgbClr val="15394A"/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2025" b="1" dirty="0" err="1">
                <a:solidFill>
                  <a:srgbClr val="15394A"/>
                </a:solidFill>
                <a:latin typeface="Microsoft YaHei"/>
                <a:ea typeface="Microsoft YaHei"/>
                <a:cs typeface="Microsoft YaHei"/>
              </a:rPr>
              <a:t>depends_on</a:t>
            </a:r>
            <a:r>
              <a:rPr sz="2025" b="1" dirty="0">
                <a:solidFill>
                  <a:srgbClr val="15394A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25" b="1" dirty="0" err="1">
                <a:solidFill>
                  <a:srgbClr val="15394A"/>
                </a:solidFill>
                <a:latin typeface="Microsoft YaHei"/>
                <a:ea typeface="Microsoft YaHei"/>
                <a:cs typeface="Microsoft YaHei"/>
              </a:rPr>
              <a:t>校验步骤依赖</a:t>
            </a:r>
            <a:endParaRPr sz="2025" b="1" dirty="0">
              <a:solidFill>
                <a:srgbClr val="15394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100A4AA0-576D-40C9-BCC4-37AA59B2B27F}"/>
              </a:ext>
            </a:extLst>
          </p:cNvPr>
          <p:cNvSpPr>
            <a:spLocks noGrp="1"/>
          </p:cNvSpPr>
          <p:nvPr/>
        </p:nvSpPr>
        <p:spPr>
          <a:xfrm>
            <a:off x="685800" y="4667250"/>
            <a:ext cx="59055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539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025" b="1">
                <a:solidFill>
                  <a:srgbClr val="153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dirty="0">
                <a:solidFill>
                  <a:srgbClr val="15394A"/>
                </a:solidFill>
                <a:latin typeface="Microsoft YaHei"/>
                <a:ea typeface="Microsoft YaHei"/>
                <a:cs typeface="Microsoft YaHei"/>
              </a:rPr>
              <a:t>3</a:t>
            </a:r>
            <a:r>
              <a:rPr lang="en-US" sz="2025" b="1" dirty="0">
                <a:solidFill>
                  <a:srgbClr val="15394A"/>
                </a:solidFill>
                <a:latin typeface="Microsoft YaHei"/>
                <a:ea typeface="Microsoft YaHei"/>
                <a:cs typeface="Microsoft YaHei"/>
              </a:rPr>
              <a:t>.</a:t>
            </a:r>
            <a:r>
              <a:rPr sz="2025" b="1" dirty="0">
                <a:solidFill>
                  <a:srgbClr val="15394A"/>
                </a:solidFill>
                <a:latin typeface="Microsoft YaHei"/>
                <a:ea typeface="Microsoft YaHei"/>
                <a:cs typeface="Microsoft YaHei"/>
              </a:rPr>
              <a:t>  ref </a:t>
            </a:r>
            <a:r>
              <a:rPr sz="2025" b="1" dirty="0" err="1">
                <a:solidFill>
                  <a:srgbClr val="15394A"/>
                </a:solidFill>
                <a:latin typeface="Microsoft YaHei"/>
                <a:ea typeface="Microsoft YaHei"/>
                <a:cs typeface="Microsoft YaHei"/>
              </a:rPr>
              <a:t>读取前序真实输出</a:t>
            </a:r>
            <a:endParaRPr sz="2025" b="1" dirty="0">
              <a:solidFill>
                <a:srgbClr val="15394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2BDBDA1B-7110-46E3-80FB-D9C26D283686}"/>
              </a:ext>
            </a:extLst>
          </p:cNvPr>
          <p:cNvSpPr>
            <a:spLocks noGrp="1"/>
          </p:cNvSpPr>
          <p:nvPr/>
        </p:nvSpPr>
        <p:spPr>
          <a:xfrm>
            <a:off x="685800" y="5276850"/>
            <a:ext cx="59055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539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025" b="1">
                <a:solidFill>
                  <a:srgbClr val="153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dirty="0">
                <a:solidFill>
                  <a:srgbClr val="15394A"/>
                </a:solidFill>
                <a:latin typeface="Microsoft YaHei"/>
                <a:ea typeface="Microsoft YaHei"/>
                <a:cs typeface="Microsoft YaHei"/>
              </a:rPr>
              <a:t>4</a:t>
            </a:r>
            <a:r>
              <a:rPr lang="en-US" sz="2025" b="1" dirty="0">
                <a:solidFill>
                  <a:srgbClr val="15394A"/>
                </a:solidFill>
                <a:latin typeface="Microsoft YaHei"/>
                <a:ea typeface="Microsoft YaHei"/>
                <a:cs typeface="Microsoft YaHei"/>
              </a:rPr>
              <a:t>.</a:t>
            </a:r>
            <a:r>
              <a:rPr sz="2025" b="1" dirty="0">
                <a:solidFill>
                  <a:srgbClr val="15394A"/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2025" b="1" dirty="0" err="1">
                <a:solidFill>
                  <a:srgbClr val="15394A"/>
                </a:solidFill>
                <a:latin typeface="Microsoft YaHei"/>
                <a:ea typeface="Microsoft YaHei"/>
                <a:cs typeface="Microsoft YaHei"/>
              </a:rPr>
              <a:t>全部成功后提交</a:t>
            </a:r>
            <a:r>
              <a:rPr lang="zh-CN" altLang="en-US" sz="2025" b="1" dirty="0">
                <a:solidFill>
                  <a:srgbClr val="15394A"/>
                </a:solidFill>
                <a:latin typeface="Microsoft YaHei"/>
                <a:ea typeface="Microsoft YaHei"/>
                <a:cs typeface="Microsoft YaHei"/>
              </a:rPr>
              <a:t>最终答案</a:t>
            </a:r>
            <a:endParaRPr sz="2025" b="1" dirty="0">
              <a:solidFill>
                <a:srgbClr val="15394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7B3F4020-EF59-4F4A-B581-0AE7BD55D088}"/>
              </a:ext>
            </a:extLst>
          </p:cNvPr>
          <p:cNvSpPr>
            <a:spLocks noGrp="1"/>
          </p:cNvSpPr>
          <p:nvPr/>
        </p:nvSpPr>
        <p:spPr>
          <a:xfrm>
            <a:off x="685800" y="6029325"/>
            <a:ext cx="5905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5973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0">
                <a:solidFill>
                  <a:srgbClr val="5973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7380"/>
                </a:solidFill>
                <a:latin typeface="Microsoft YaHei"/>
                <a:ea typeface="Microsoft YaHei"/>
                <a:cs typeface="Microsoft YaHei"/>
              </a:rPr>
              <a:t>业务工具：检索、单位换算、显热与混合衡算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6A4D81F8-287D-4A90-8632-4E35078029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400" r="53000" b="59000"/>
          <a:stretch/>
        </p:blipFill>
        <p:spPr>
          <a:xfrm>
            <a:off x="6657975" y="1714500"/>
            <a:ext cx="4791075" cy="3581400"/>
          </a:xfrm>
          <a:prstGeom prst="rect">
            <a:avLst/>
          </a:prstGeom>
        </p:spPr>
      </p:pic>
      <p:sp>
        <p:nvSpPr>
          <p:cNvPr id="11" name="text">
            <a:extLst>
              <a:ext uri="{FF2B5EF4-FFF2-40B4-BE49-F238E27FC236}">
                <a16:creationId xmlns:a16="http://schemas.microsoft.com/office/drawing/2014/main" id="{0F9CC561-6403-429A-9B8B-9388CBD9C450}"/>
              </a:ext>
            </a:extLst>
          </p:cNvPr>
          <p:cNvSpPr>
            <a:spLocks noGrp="1"/>
          </p:cNvSpPr>
          <p:nvPr/>
        </p:nvSpPr>
        <p:spPr>
          <a:xfrm>
            <a:off x="6848475" y="5762625"/>
            <a:ext cx="4791075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5973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00" b="0">
                <a:solidFill>
                  <a:srgbClr val="5973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97380"/>
                </a:solidFill>
                <a:latin typeface="Microsoft YaHei"/>
                <a:ea typeface="Microsoft YaHei"/>
                <a:cs typeface="Microsoft YaHei"/>
              </a:rPr>
              <a:t>执行器校验参数来源、量纲和步骤依赖</a:t>
            </a:r>
          </a:p>
        </p:txBody>
      </p:sp>
    </p:spTree>
    <p:extLst>
      <p:ext uri="{BB962C8B-B14F-4D97-AF65-F5344CB8AC3E}">
        <p14:creationId xmlns:p14="http://schemas.microsoft.com/office/powerpoint/2010/main" val="506139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-title">
            <a:extLst>
              <a:ext uri="{FF2B5EF4-FFF2-40B4-BE49-F238E27FC236}">
                <a16:creationId xmlns:a16="http://schemas.microsoft.com/office/drawing/2014/main" id="{C93BE99A-4ADC-4936-9930-8E9C2EB66798}"/>
              </a:ext>
            </a:extLst>
          </p:cNvPr>
          <p:cNvSpPr>
            <a:spLocks noGrp="1"/>
          </p:cNvSpPr>
          <p:nvPr/>
        </p:nvSpPr>
        <p:spPr>
          <a:xfrm>
            <a:off x="685800" y="466725"/>
            <a:ext cx="108204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525" b="1">
                <a:solidFill>
                  <a:srgbClr val="1539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525" b="1">
                <a:solidFill>
                  <a:srgbClr val="153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5394A"/>
                </a:solidFill>
                <a:latin typeface="Microsoft YaHei"/>
                <a:ea typeface="Microsoft YaHei"/>
                <a:cs typeface="Microsoft YaHei"/>
              </a:rPr>
              <a:t>前端技术与接口交互</a:t>
            </a:r>
          </a:p>
        </p:txBody>
      </p:sp>
      <p:sp>
        <p:nvSpPr>
          <p:cNvPr id="2" name="page-number">
            <a:extLst>
              <a:ext uri="{FF2B5EF4-FFF2-40B4-BE49-F238E27FC236}">
                <a16:creationId xmlns:a16="http://schemas.microsoft.com/office/drawing/2014/main" id="{6A9AD509-063E-4FBF-89B9-89DE56BE4407}"/>
              </a:ext>
            </a:extLst>
          </p:cNvPr>
          <p:cNvSpPr>
            <a:spLocks noGrp="1"/>
          </p:cNvSpPr>
          <p:nvPr/>
        </p:nvSpPr>
        <p:spPr>
          <a:xfrm>
            <a:off x="11191875" y="64008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973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b="0">
                <a:solidFill>
                  <a:srgbClr val="5973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97380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0577E903-F5F9-42A7-954D-0BDED0EF3D29}"/>
              </a:ext>
            </a:extLst>
          </p:cNvPr>
          <p:cNvGraphicFramePr/>
          <p:nvPr/>
        </p:nvGraphicFramePr>
        <p:xfrm>
          <a:off x="685800" y="1581150"/>
          <a:ext cx="10820400" cy="3771900"/>
        </p:xfrm>
        <a:graphic>
          <a:graphicData uri="http://schemas.openxmlformats.org/drawingml/2006/table">
            <a:tbl>
              <a:tblPr/>
              <a:tblGrid>
                <a:gridCol w="295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0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技术与模块</a:t>
                      </a:r>
                    </a:p>
                  </a:txBody>
                  <a:tcPr marL="142875" marR="142875" marT="114300" marB="114300" anchor="ctr">
                    <a:solidFill>
                      <a:srgbClr val="1539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职责</a:t>
                      </a:r>
                    </a:p>
                  </a:txBody>
                  <a:tcPr marL="142875" marR="142875" marT="114300" marB="114300" anchor="ctr">
                    <a:solidFill>
                      <a:srgbClr val="1539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项目实现</a:t>
                      </a:r>
                    </a:p>
                  </a:txBody>
                  <a:tcPr marL="142875" marR="142875" marT="114300" marB="114300" anchor="ctr">
                    <a:solidFill>
                      <a:srgbClr val="1539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539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Vue 3 组件</a:t>
                      </a:r>
                    </a:p>
                  </a:txBody>
                  <a:tcPr marL="142875" marR="142875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539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组织页面展示</a:t>
                      </a:r>
                    </a:p>
                  </a:txBody>
                  <a:tcPr marL="142875" marR="142875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539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对话、结果、知识库与图谱组件</a:t>
                      </a:r>
                    </a:p>
                  </a:txBody>
                  <a:tcPr marL="142875" marR="142875" marT="114300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539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TypeScript</a:t>
                      </a:r>
                    </a:p>
                  </a:txBody>
                  <a:tcPr marL="142875" marR="142875" marT="114300" marB="114300" anchor="ctr">
                    <a:solidFill>
                      <a:srgbClr val="F0F5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539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定义接口与业务数据</a:t>
                      </a:r>
                    </a:p>
                  </a:txBody>
                  <a:tcPr marL="142875" marR="142875" marT="114300" marB="114300" anchor="ctr">
                    <a:solidFill>
                      <a:srgbClr val="F0F5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539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任务、检索、引用等类型</a:t>
                      </a:r>
                    </a:p>
                  </a:txBody>
                  <a:tcPr marL="142875" marR="142875" marT="114300" marB="114300" anchor="ctr">
                    <a:solidFill>
                      <a:srgbClr val="F0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539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组合式 API</a:t>
                      </a:r>
                    </a:p>
                  </a:txBody>
                  <a:tcPr marL="142875" marR="142875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539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管理会话与任务状态</a:t>
                      </a:r>
                    </a:p>
                  </a:txBody>
                  <a:tcPr marL="142875" marR="142875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539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useWorkbench：提交、轮询与追问</a:t>
                      </a:r>
                    </a:p>
                  </a:txBody>
                  <a:tcPr marL="142875" marR="142875" marT="114300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800" b="0" dirty="0">
                          <a:solidFill>
                            <a:srgbClr val="1539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Fetch </a:t>
                      </a:r>
                      <a:r>
                        <a:rPr sz="1800" b="0" dirty="0" err="1">
                          <a:solidFill>
                            <a:srgbClr val="1539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请求服务</a:t>
                      </a:r>
                      <a:endParaRPr sz="1800" b="0" dirty="0">
                        <a:solidFill>
                          <a:srgbClr val="15394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142875" marR="142875" marT="114300" marB="114300" anchor="ctr">
                    <a:solidFill>
                      <a:srgbClr val="F0F5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539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统一请求及错误处理</a:t>
                      </a:r>
                    </a:p>
                  </a:txBody>
                  <a:tcPr marL="142875" marR="142875" marT="114300" marB="114300" anchor="ctr">
                    <a:solidFill>
                      <a:srgbClr val="F0F5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539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api.ts 与知识卡缓存</a:t>
                      </a:r>
                    </a:p>
                  </a:txBody>
                  <a:tcPr marL="142875" marR="142875" marT="114300" marB="114300" anchor="ctr">
                    <a:solidFill>
                      <a:srgbClr val="F0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800" b="0" dirty="0">
                          <a:solidFill>
                            <a:srgbClr val="1539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Vite</a:t>
                      </a:r>
                    </a:p>
                  </a:txBody>
                  <a:tcPr marL="142875" marR="142875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dirty="0" err="1">
                          <a:solidFill>
                            <a:srgbClr val="1539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独立开发、构建与代理</a:t>
                      </a:r>
                      <a:endParaRPr sz="1800" b="0" dirty="0">
                        <a:solidFill>
                          <a:srgbClr val="15394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142875" marR="142875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dirty="0">
                          <a:solidFill>
                            <a:srgbClr val="1539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5173 </a:t>
                      </a:r>
                      <a:r>
                        <a:rPr sz="1800" b="0" dirty="0" err="1">
                          <a:solidFill>
                            <a:srgbClr val="1539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前端，经</a:t>
                      </a:r>
                      <a:r>
                        <a:rPr sz="1800" b="0" dirty="0">
                          <a:solidFill>
                            <a:srgbClr val="1539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/</a:t>
                      </a:r>
                      <a:r>
                        <a:rPr sz="1800" b="0" dirty="0" err="1">
                          <a:solidFill>
                            <a:srgbClr val="1539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api</a:t>
                      </a:r>
                      <a:r>
                        <a:rPr sz="1800" b="0" dirty="0">
                          <a:solidFill>
                            <a:srgbClr val="1539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539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访问后端</a:t>
                      </a:r>
                      <a:endParaRPr sz="1800" b="0" dirty="0">
                        <a:solidFill>
                          <a:srgbClr val="15394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142875" marR="142875" marT="114300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">
            <a:extLst>
              <a:ext uri="{FF2B5EF4-FFF2-40B4-BE49-F238E27FC236}">
                <a16:creationId xmlns:a16="http://schemas.microsoft.com/office/drawing/2014/main" id="{53AE4BCF-6BF3-447E-8939-617D88D3D810}"/>
              </a:ext>
            </a:extLst>
          </p:cNvPr>
          <p:cNvSpPr>
            <a:spLocks noGrp="1"/>
          </p:cNvSpPr>
          <p:nvPr/>
        </p:nvSpPr>
        <p:spPr>
          <a:xfrm>
            <a:off x="685800" y="5829300"/>
            <a:ext cx="108585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7796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100" b="1">
                <a:solidFill>
                  <a:srgbClr val="1779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796F"/>
                </a:solidFill>
                <a:latin typeface="Microsoft YaHei"/>
                <a:ea typeface="Microsoft YaHei"/>
                <a:cs typeface="Microsoft YaHei"/>
              </a:rPr>
              <a:t>前端按任务数据展示，模型调用与密钥管理留在后端</a:t>
            </a:r>
          </a:p>
        </p:txBody>
      </p:sp>
    </p:spTree>
    <p:extLst>
      <p:ext uri="{BB962C8B-B14F-4D97-AF65-F5344CB8AC3E}">
        <p14:creationId xmlns:p14="http://schemas.microsoft.com/office/powerpoint/2010/main" val="12244218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-title">
            <a:extLst>
              <a:ext uri="{FF2B5EF4-FFF2-40B4-BE49-F238E27FC236}">
                <a16:creationId xmlns:a16="http://schemas.microsoft.com/office/drawing/2014/main" id="{AD110E6F-02CD-4923-BD57-9EBE8781511F}"/>
              </a:ext>
            </a:extLst>
          </p:cNvPr>
          <p:cNvSpPr>
            <a:spLocks noGrp="1"/>
          </p:cNvSpPr>
          <p:nvPr/>
        </p:nvSpPr>
        <p:spPr>
          <a:xfrm>
            <a:off x="685800" y="466725"/>
            <a:ext cx="108204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525" b="1">
                <a:solidFill>
                  <a:srgbClr val="1539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525" b="1">
                <a:solidFill>
                  <a:srgbClr val="153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5394A"/>
                </a:solidFill>
                <a:latin typeface="Microsoft YaHei"/>
                <a:ea typeface="Microsoft YaHei"/>
                <a:cs typeface="Microsoft YaHei"/>
              </a:rPr>
              <a:t>独立前端工作台</a:t>
            </a:r>
          </a:p>
        </p:txBody>
      </p:sp>
      <p:sp>
        <p:nvSpPr>
          <p:cNvPr id="2" name="page-number">
            <a:extLst>
              <a:ext uri="{FF2B5EF4-FFF2-40B4-BE49-F238E27FC236}">
                <a16:creationId xmlns:a16="http://schemas.microsoft.com/office/drawing/2014/main" id="{9BA252DB-1B85-4361-B340-A5E5B70349E6}"/>
              </a:ext>
            </a:extLst>
          </p:cNvPr>
          <p:cNvSpPr>
            <a:spLocks noGrp="1"/>
          </p:cNvSpPr>
          <p:nvPr/>
        </p:nvSpPr>
        <p:spPr>
          <a:xfrm>
            <a:off x="11191875" y="64008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973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b="0">
                <a:solidFill>
                  <a:srgbClr val="5973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97380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3696EB0-95D4-4532-ABAF-37C5982AF9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000" b="29000"/>
          <a:stretch/>
        </p:blipFill>
        <p:spPr>
          <a:xfrm>
            <a:off x="682377" y="994180"/>
            <a:ext cx="11004798" cy="5259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9225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D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-title">
            <a:extLst>
              <a:ext uri="{FF2B5EF4-FFF2-40B4-BE49-F238E27FC236}">
                <a16:creationId xmlns:a16="http://schemas.microsoft.com/office/drawing/2014/main" id="{0038F1BD-57F5-49DF-B806-D9540B10DC93}"/>
              </a:ext>
            </a:extLst>
          </p:cNvPr>
          <p:cNvSpPr>
            <a:spLocks noGrp="1"/>
          </p:cNvSpPr>
          <p:nvPr/>
        </p:nvSpPr>
        <p:spPr>
          <a:xfrm>
            <a:off x="685800" y="466725"/>
            <a:ext cx="108204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525" b="1">
                <a:solidFill>
                  <a:srgbClr val="F5F8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525" b="1">
                <a:solidFill>
                  <a:srgbClr val="F5F8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F5F8F8"/>
                </a:solidFill>
                <a:latin typeface="Microsoft YaHei"/>
                <a:ea typeface="Microsoft YaHei"/>
                <a:cs typeface="Microsoft YaHei"/>
              </a:rPr>
              <a:t>典型工程计算</a:t>
            </a:r>
          </a:p>
        </p:txBody>
      </p:sp>
      <p:sp>
        <p:nvSpPr>
          <p:cNvPr id="2" name="page-number">
            <a:extLst>
              <a:ext uri="{FF2B5EF4-FFF2-40B4-BE49-F238E27FC236}">
                <a16:creationId xmlns:a16="http://schemas.microsoft.com/office/drawing/2014/main" id="{8B198008-C965-4258-9A4F-DA349AA380AE}"/>
              </a:ext>
            </a:extLst>
          </p:cNvPr>
          <p:cNvSpPr>
            <a:spLocks noGrp="1"/>
          </p:cNvSpPr>
          <p:nvPr/>
        </p:nvSpPr>
        <p:spPr>
          <a:xfrm>
            <a:off x="11191875" y="64008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B9CCD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b="0">
                <a:solidFill>
                  <a:srgbClr val="B9CC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9CCD0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DF09CFE9-A0F8-49F3-B47F-7BB8823046C6}"/>
              </a:ext>
            </a:extLst>
          </p:cNvPr>
          <p:cNvSpPr>
            <a:spLocks noGrp="1"/>
          </p:cNvSpPr>
          <p:nvPr/>
        </p:nvSpPr>
        <p:spPr>
          <a:xfrm>
            <a:off x="685800" y="1685925"/>
            <a:ext cx="50482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62D2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400" b="1">
                <a:solidFill>
                  <a:srgbClr val="62D2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62D2BC"/>
                </a:solidFill>
                <a:latin typeface="Microsoft YaHei"/>
                <a:ea typeface="Microsoft YaHei"/>
                <a:cs typeface="Microsoft YaHei"/>
              </a:rPr>
              <a:t>单相显热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1DF7077C-02EB-4ADA-81D7-C263A6B1D52F}"/>
              </a:ext>
            </a:extLst>
          </p:cNvPr>
          <p:cNvSpPr>
            <a:spLocks noGrp="1"/>
          </p:cNvSpPr>
          <p:nvPr/>
        </p:nvSpPr>
        <p:spPr>
          <a:xfrm>
            <a:off x="685800" y="2381250"/>
            <a:ext cx="5105400" cy="1457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F5F8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100" b="0">
                <a:solidFill>
                  <a:srgbClr val="F5F8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5F8F8"/>
                </a:solidFill>
                <a:latin typeface="Microsoft YaHei"/>
                <a:ea typeface="Microsoft YaHei"/>
                <a:cs typeface="Microsoft YaHei"/>
              </a:rPr>
              <a:t>流量 1000 kg/h</a:t>
            </a:r>
          </a:p>
          <a:p>
            <a:pPr algn="l">
              <a:defRPr sz="2100" b="0">
                <a:solidFill>
                  <a:srgbClr val="F5F8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5F8F8"/>
                </a:solidFill>
                <a:latin typeface="Microsoft YaHei"/>
                <a:ea typeface="Microsoft YaHei"/>
                <a:cs typeface="Microsoft YaHei"/>
              </a:rPr>
              <a:t>温度 25 ℃至65 ℃</a:t>
            </a:r>
          </a:p>
          <a:p>
            <a:pPr algn="l">
              <a:defRPr sz="2100" b="0">
                <a:solidFill>
                  <a:srgbClr val="F5F8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5F8F8"/>
                </a:solidFill>
                <a:latin typeface="Microsoft YaHei"/>
                <a:ea typeface="Microsoft YaHei"/>
                <a:cs typeface="Microsoft YaHei"/>
              </a:rPr>
              <a:t>给定比热 4.18 kJ/(kg·K)</a:t>
            </a: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9AFEF22E-9884-4D70-AA97-EFB1E4AF285E}"/>
              </a:ext>
            </a:extLst>
          </p:cNvPr>
          <p:cNvSpPr>
            <a:spLocks noGrp="1"/>
          </p:cNvSpPr>
          <p:nvPr/>
        </p:nvSpPr>
        <p:spPr>
          <a:xfrm>
            <a:off x="685800" y="4295775"/>
            <a:ext cx="523875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5025" b="1">
                <a:solidFill>
                  <a:srgbClr val="F5F8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5025" b="1">
                <a:solidFill>
                  <a:srgbClr val="F5F8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025" b="1">
                <a:solidFill>
                  <a:srgbClr val="F5F8F8"/>
                </a:solidFill>
                <a:latin typeface="Microsoft YaHei"/>
                <a:ea typeface="Microsoft YaHei"/>
                <a:cs typeface="Microsoft YaHei"/>
              </a:rPr>
              <a:t>46.44 kW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4AEF715B-3832-4E8C-A153-C0C1368700CA}"/>
              </a:ext>
            </a:extLst>
          </p:cNvPr>
          <p:cNvSpPr>
            <a:spLocks noGrp="1"/>
          </p:cNvSpPr>
          <p:nvPr/>
        </p:nvSpPr>
        <p:spPr>
          <a:xfrm>
            <a:off x="685800" y="5314950"/>
            <a:ext cx="5238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0">
                <a:solidFill>
                  <a:srgbClr val="B9CCD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325" b="0">
                <a:solidFill>
                  <a:srgbClr val="B9CC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B9CCD0"/>
                </a:solidFill>
                <a:latin typeface="Microsoft YaHei"/>
                <a:ea typeface="Microsoft YaHei"/>
                <a:cs typeface="Microsoft YaHei"/>
              </a:rPr>
              <a:t>Q = ṁ × cₚ × ΔT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CC7C803B-FF1C-40F6-9C39-205063758CD9}"/>
              </a:ext>
            </a:extLst>
          </p:cNvPr>
          <p:cNvSpPr>
            <a:spLocks noGrp="1"/>
          </p:cNvSpPr>
          <p:nvPr/>
        </p:nvSpPr>
        <p:spPr>
          <a:xfrm>
            <a:off x="6286500" y="1685925"/>
            <a:ext cx="52387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62D2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400" b="1">
                <a:solidFill>
                  <a:srgbClr val="62D2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dirty="0" err="1">
                <a:solidFill>
                  <a:srgbClr val="62D2BC"/>
                </a:solidFill>
                <a:latin typeface="Microsoft YaHei"/>
                <a:ea typeface="Microsoft YaHei"/>
                <a:cs typeface="Microsoft YaHei"/>
              </a:rPr>
              <a:t>混合后加热</a:t>
            </a:r>
            <a:endParaRPr sz="2400" b="1" dirty="0">
              <a:solidFill>
                <a:srgbClr val="62D2B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1A568C24-1EE5-4E2D-8107-C946B3875A6D}"/>
              </a:ext>
            </a:extLst>
          </p:cNvPr>
          <p:cNvSpPr>
            <a:spLocks noGrp="1"/>
          </p:cNvSpPr>
          <p:nvPr/>
        </p:nvSpPr>
        <p:spPr>
          <a:xfrm>
            <a:off x="6286500" y="2381250"/>
            <a:ext cx="5257800" cy="1457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F5F8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025" b="0">
                <a:solidFill>
                  <a:srgbClr val="F5F8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5F8F8"/>
                </a:solidFill>
                <a:latin typeface="Microsoft YaHei"/>
                <a:ea typeface="Microsoft YaHei"/>
                <a:cs typeface="Microsoft YaHei"/>
              </a:rPr>
              <a:t>100 kg/h、盐质量分数5%的盐水</a:t>
            </a:r>
          </a:p>
          <a:p>
            <a:pPr algn="l">
              <a:defRPr sz="2025" b="0">
                <a:solidFill>
                  <a:srgbClr val="F5F8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5F8F8"/>
                </a:solidFill>
                <a:latin typeface="Microsoft YaHei"/>
                <a:ea typeface="Microsoft YaHei"/>
                <a:cs typeface="Microsoft YaHei"/>
              </a:rPr>
              <a:t>与400 kg/h纯水混合</a:t>
            </a:r>
          </a:p>
          <a:p>
            <a:pPr algn="l">
              <a:defRPr sz="2025" b="0">
                <a:solidFill>
                  <a:srgbClr val="F5F8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F5F8F8"/>
                </a:solidFill>
                <a:latin typeface="Microsoft YaHei"/>
                <a:ea typeface="Microsoft YaHei"/>
                <a:cs typeface="Microsoft YaHei"/>
              </a:rPr>
              <a:t>总流量500 kg/h，盐质量分数1%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E7653AA2-2C10-42CE-8928-CEDA5E1241CF}"/>
              </a:ext>
            </a:extLst>
          </p:cNvPr>
          <p:cNvSpPr>
            <a:spLocks noGrp="1"/>
          </p:cNvSpPr>
          <p:nvPr/>
        </p:nvSpPr>
        <p:spPr>
          <a:xfrm>
            <a:off x="6286500" y="4295775"/>
            <a:ext cx="523875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5025" b="1">
                <a:solidFill>
                  <a:srgbClr val="F5F8F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5025" b="1">
                <a:solidFill>
                  <a:srgbClr val="F5F8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025" b="1">
                <a:solidFill>
                  <a:srgbClr val="F5F8F8"/>
                </a:solidFill>
                <a:latin typeface="Microsoft YaHei"/>
                <a:ea typeface="Microsoft YaHei"/>
                <a:cs typeface="Microsoft YaHei"/>
              </a:rPr>
              <a:t>23.22 kW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D1FAB360-2B9C-48F3-AAFF-4573C81ACE09}"/>
              </a:ext>
            </a:extLst>
          </p:cNvPr>
          <p:cNvSpPr>
            <a:spLocks noGrp="1"/>
          </p:cNvSpPr>
          <p:nvPr/>
        </p:nvSpPr>
        <p:spPr>
          <a:xfrm>
            <a:off x="6286500" y="5314950"/>
            <a:ext cx="5257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B9CCD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00" b="0">
                <a:solidFill>
                  <a:srgbClr val="B9CC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9CCD0"/>
                </a:solidFill>
                <a:latin typeface="Microsoft YaHei"/>
                <a:ea typeface="Microsoft YaHei"/>
                <a:cs typeface="Microsoft YaHei"/>
              </a:rPr>
              <a:t>混合液从25 ℃加热至65 ℃，给定相同比热</a:t>
            </a:r>
          </a:p>
        </p:txBody>
      </p:sp>
      <p:sp>
        <p:nvSpPr>
          <p:cNvPr id="11" name="text">
            <a:extLst>
              <a:ext uri="{FF2B5EF4-FFF2-40B4-BE49-F238E27FC236}">
                <a16:creationId xmlns:a16="http://schemas.microsoft.com/office/drawing/2014/main" id="{F5AB4A8B-6FB5-472B-91F8-AA4D6085C94E}"/>
              </a:ext>
            </a:extLst>
          </p:cNvPr>
          <p:cNvSpPr>
            <a:spLocks noGrp="1"/>
          </p:cNvSpPr>
          <p:nvPr/>
        </p:nvSpPr>
        <p:spPr>
          <a:xfrm>
            <a:off x="685800" y="6200775"/>
            <a:ext cx="10953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B9CCD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0">
                <a:solidFill>
                  <a:srgbClr val="B9CC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B9CCD0"/>
                </a:solidFill>
                <a:latin typeface="Microsoft YaHei"/>
                <a:ea typeface="Microsoft YaHei"/>
                <a:cs typeface="Microsoft YaHei"/>
              </a:rPr>
              <a:t>条件：稳态、单相、恒比热、无反应与相变，忽略热损失等附加能量项</a:t>
            </a:r>
          </a:p>
        </p:txBody>
      </p:sp>
    </p:spTree>
    <p:extLst>
      <p:ext uri="{BB962C8B-B14F-4D97-AF65-F5344CB8AC3E}">
        <p14:creationId xmlns:p14="http://schemas.microsoft.com/office/powerpoint/2010/main" val="11126688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-title">
            <a:extLst>
              <a:ext uri="{FF2B5EF4-FFF2-40B4-BE49-F238E27FC236}">
                <a16:creationId xmlns:a16="http://schemas.microsoft.com/office/drawing/2014/main" id="{6F5FC10C-1D13-41B1-A7E0-55CE1F091DA7}"/>
              </a:ext>
            </a:extLst>
          </p:cNvPr>
          <p:cNvSpPr>
            <a:spLocks noGrp="1"/>
          </p:cNvSpPr>
          <p:nvPr/>
        </p:nvSpPr>
        <p:spPr>
          <a:xfrm>
            <a:off x="685800" y="466725"/>
            <a:ext cx="108204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525" b="1">
                <a:solidFill>
                  <a:srgbClr val="1539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525" b="1">
                <a:solidFill>
                  <a:srgbClr val="153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5394A"/>
                </a:solidFill>
                <a:latin typeface="Microsoft YaHei"/>
                <a:ea typeface="Microsoft YaHei"/>
                <a:cs typeface="Microsoft YaHei"/>
              </a:rPr>
              <a:t>连续补参沿用原有任务条件</a:t>
            </a:r>
          </a:p>
        </p:txBody>
      </p:sp>
      <p:sp>
        <p:nvSpPr>
          <p:cNvPr id="2" name="page-number">
            <a:extLst>
              <a:ext uri="{FF2B5EF4-FFF2-40B4-BE49-F238E27FC236}">
                <a16:creationId xmlns:a16="http://schemas.microsoft.com/office/drawing/2014/main" id="{E61C5AEC-8C22-491B-9AF7-A72C2E072134}"/>
              </a:ext>
            </a:extLst>
          </p:cNvPr>
          <p:cNvSpPr>
            <a:spLocks noGrp="1"/>
          </p:cNvSpPr>
          <p:nvPr/>
        </p:nvSpPr>
        <p:spPr>
          <a:xfrm>
            <a:off x="11191875" y="64008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973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b="0">
                <a:solidFill>
                  <a:srgbClr val="5973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97380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06785A92-69C0-4E02-A01C-9D0B8459B599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642937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17796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325" b="1">
                <a:solidFill>
                  <a:srgbClr val="1779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796F"/>
                </a:solidFill>
                <a:latin typeface="Microsoft YaHei"/>
                <a:ea typeface="Microsoft YaHei"/>
                <a:cs typeface="Microsoft YaHei"/>
              </a:rPr>
              <a:t>第一轮输入</a:t>
            </a:r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C2D16B5B-3BA4-4CE6-85D0-707799D860D3}"/>
              </a:ext>
            </a:extLst>
          </p:cNvPr>
          <p:cNvSpPr>
            <a:spLocks noGrp="1"/>
          </p:cNvSpPr>
          <p:nvPr/>
        </p:nvSpPr>
        <p:spPr>
          <a:xfrm>
            <a:off x="685800" y="2305050"/>
            <a:ext cx="651510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0">
                <a:solidFill>
                  <a:srgbClr val="1539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250" b="0">
                <a:solidFill>
                  <a:srgbClr val="153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 dirty="0">
                <a:solidFill>
                  <a:srgbClr val="15394A"/>
                </a:solidFill>
                <a:latin typeface="Microsoft YaHei"/>
                <a:ea typeface="Microsoft YaHei"/>
                <a:cs typeface="Microsoft YaHei"/>
              </a:rPr>
              <a:t>流量1800 kg/h，20 ℃加热至70 ℃</a:t>
            </a:r>
          </a:p>
          <a:p>
            <a:pPr algn="l">
              <a:defRPr sz="2250" b="0">
                <a:solidFill>
                  <a:srgbClr val="153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 dirty="0" err="1">
                <a:solidFill>
                  <a:srgbClr val="15394A"/>
                </a:solidFill>
                <a:latin typeface="Microsoft YaHei"/>
                <a:ea typeface="Microsoft YaHei"/>
                <a:cs typeface="Microsoft YaHei"/>
              </a:rPr>
              <a:t>比热未知，系统请求补充</a:t>
            </a:r>
            <a:endParaRPr sz="2250" b="0" dirty="0">
              <a:solidFill>
                <a:srgbClr val="15394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7C350F4E-8D75-48AA-887D-B5F94E423C5B}"/>
              </a:ext>
            </a:extLst>
          </p:cNvPr>
          <p:cNvSpPr>
            <a:spLocks noGrp="1"/>
          </p:cNvSpPr>
          <p:nvPr/>
        </p:nvSpPr>
        <p:spPr>
          <a:xfrm>
            <a:off x="685800" y="3552825"/>
            <a:ext cx="642937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17796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325" b="1">
                <a:solidFill>
                  <a:srgbClr val="1779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796F"/>
                </a:solidFill>
                <a:latin typeface="Microsoft YaHei"/>
                <a:ea typeface="Microsoft YaHei"/>
                <a:cs typeface="Microsoft YaHei"/>
              </a:rPr>
              <a:t>同一对话补充</a:t>
            </a:r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6A9C4E2D-395E-4A08-8104-9A0787B21507}"/>
              </a:ext>
            </a:extLst>
          </p:cNvPr>
          <p:cNvSpPr>
            <a:spLocks noGrp="1"/>
          </p:cNvSpPr>
          <p:nvPr/>
        </p:nvSpPr>
        <p:spPr>
          <a:xfrm>
            <a:off x="685800" y="4181475"/>
            <a:ext cx="6524625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0">
                <a:solidFill>
                  <a:srgbClr val="1539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250" b="0">
                <a:solidFill>
                  <a:srgbClr val="153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5394A"/>
                </a:solidFill>
                <a:latin typeface="Microsoft YaHei"/>
                <a:ea typeface="Microsoft YaHei"/>
                <a:cs typeface="Microsoft YaHei"/>
              </a:rPr>
              <a:t>比热3.6 kJ/(kg·K)，其他条件不变</a:t>
            </a:r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43E8B706-7221-4223-8BD3-33C3D4533EA1}"/>
              </a:ext>
            </a:extLst>
          </p:cNvPr>
          <p:cNvSpPr>
            <a:spLocks noGrp="1"/>
          </p:cNvSpPr>
          <p:nvPr/>
        </p:nvSpPr>
        <p:spPr>
          <a:xfrm>
            <a:off x="685800" y="5381625"/>
            <a:ext cx="6810375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1539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175" b="1">
                <a:solidFill>
                  <a:srgbClr val="153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5394A"/>
                </a:solidFill>
                <a:latin typeface="Microsoft YaHei"/>
                <a:ea typeface="Microsoft YaHei"/>
                <a:cs typeface="Microsoft YaHei"/>
              </a:rPr>
              <a:t>保留原条件、补充输入与各轮依据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AA24EEA0-146D-4B73-9990-5326C71E241E}"/>
              </a:ext>
            </a:extLst>
          </p:cNvPr>
          <p:cNvSpPr>
            <a:spLocks noGrp="1"/>
          </p:cNvSpPr>
          <p:nvPr/>
        </p:nvSpPr>
        <p:spPr>
          <a:xfrm>
            <a:off x="7858125" y="2705100"/>
            <a:ext cx="3762375" cy="981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6225" b="1">
                <a:solidFill>
                  <a:srgbClr val="17796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6225" b="1">
                <a:solidFill>
                  <a:srgbClr val="1779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225" b="1">
                <a:solidFill>
                  <a:srgbClr val="17796F"/>
                </a:solidFill>
                <a:latin typeface="Microsoft YaHei"/>
                <a:ea typeface="Microsoft YaHei"/>
                <a:cs typeface="Microsoft YaHei"/>
              </a:rPr>
              <a:t>90.00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2C4C8B6D-0C77-4A6F-8DAD-8645409691E3}"/>
              </a:ext>
            </a:extLst>
          </p:cNvPr>
          <p:cNvSpPr>
            <a:spLocks noGrp="1"/>
          </p:cNvSpPr>
          <p:nvPr/>
        </p:nvSpPr>
        <p:spPr>
          <a:xfrm>
            <a:off x="7934325" y="3790950"/>
            <a:ext cx="2381250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539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225" b="1">
                <a:solidFill>
                  <a:srgbClr val="153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5394A"/>
                </a:solidFill>
                <a:latin typeface="Microsoft YaHei"/>
                <a:ea typeface="Microsoft YaHei"/>
                <a:cs typeface="Microsoft YaHei"/>
              </a:rPr>
              <a:t>kW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3C87EB9F-CE6C-41E5-B43B-99FFD439D323}"/>
              </a:ext>
            </a:extLst>
          </p:cNvPr>
          <p:cNvSpPr>
            <a:spLocks noGrp="1"/>
          </p:cNvSpPr>
          <p:nvPr/>
        </p:nvSpPr>
        <p:spPr>
          <a:xfrm>
            <a:off x="7934325" y="4829175"/>
            <a:ext cx="3476625" cy="866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5973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100" b="0">
                <a:solidFill>
                  <a:srgbClr val="5973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97380"/>
                </a:solidFill>
                <a:latin typeface="Microsoft YaHei"/>
                <a:ea typeface="Microsoft YaHei"/>
                <a:cs typeface="Microsoft YaHei"/>
              </a:rPr>
              <a:t>质量流量0.5 kg/s</a:t>
            </a:r>
          </a:p>
          <a:p>
            <a:pPr algn="l">
              <a:defRPr sz="2100" b="0">
                <a:solidFill>
                  <a:srgbClr val="5973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97380"/>
                </a:solidFill>
                <a:latin typeface="Microsoft YaHei"/>
                <a:ea typeface="Microsoft YaHei"/>
                <a:cs typeface="Microsoft YaHei"/>
              </a:rPr>
              <a:t>温差50 K</a:t>
            </a:r>
          </a:p>
        </p:txBody>
      </p:sp>
    </p:spTree>
    <p:extLst>
      <p:ext uri="{BB962C8B-B14F-4D97-AF65-F5344CB8AC3E}">
        <p14:creationId xmlns:p14="http://schemas.microsoft.com/office/powerpoint/2010/main" val="1941335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-title">
            <a:extLst>
              <a:ext uri="{FF2B5EF4-FFF2-40B4-BE49-F238E27FC236}">
                <a16:creationId xmlns:a16="http://schemas.microsoft.com/office/drawing/2014/main" id="{09D15F71-BF17-42C7-A9EA-9A19E8A9E0AD}"/>
              </a:ext>
            </a:extLst>
          </p:cNvPr>
          <p:cNvSpPr>
            <a:spLocks noGrp="1"/>
          </p:cNvSpPr>
          <p:nvPr/>
        </p:nvSpPr>
        <p:spPr>
          <a:xfrm>
            <a:off x="685800" y="466725"/>
            <a:ext cx="108204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525" b="1">
                <a:solidFill>
                  <a:srgbClr val="15394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525" b="1">
                <a:solidFill>
                  <a:srgbClr val="1539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5394A"/>
                </a:solidFill>
                <a:latin typeface="Microsoft YaHei"/>
                <a:ea typeface="Microsoft YaHei"/>
                <a:cs typeface="Microsoft YaHei"/>
              </a:rPr>
              <a:t>项目成果与应用定位</a:t>
            </a:r>
          </a:p>
        </p:txBody>
      </p:sp>
      <p:sp>
        <p:nvSpPr>
          <p:cNvPr id="2" name="page-number">
            <a:extLst>
              <a:ext uri="{FF2B5EF4-FFF2-40B4-BE49-F238E27FC236}">
                <a16:creationId xmlns:a16="http://schemas.microsoft.com/office/drawing/2014/main" id="{2750CF2E-88BA-49CB-B3B1-47E3E7D1310E}"/>
              </a:ext>
            </a:extLst>
          </p:cNvPr>
          <p:cNvSpPr>
            <a:spLocks noGrp="1"/>
          </p:cNvSpPr>
          <p:nvPr/>
        </p:nvSpPr>
        <p:spPr>
          <a:xfrm>
            <a:off x="11191875" y="6400800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973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b="0">
                <a:solidFill>
                  <a:srgbClr val="5973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97380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57F2558F-978F-4354-9C95-A6B61826CA5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44754340"/>
              </p:ext>
            </p:extLst>
          </p:nvPr>
        </p:nvGraphicFramePr>
        <p:xfrm>
          <a:off x="685800" y="2035729"/>
          <a:ext cx="10820400" cy="2933700"/>
        </p:xfrm>
        <a:graphic>
          <a:graphicData uri="http://schemas.openxmlformats.org/drawingml/2006/table">
            <a:tbl>
              <a:tblPr/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6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48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3425">
                <a:tc>
                  <a:txBody>
                    <a:bodyPr/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成果</a:t>
                      </a:r>
                    </a:p>
                  </a:txBody>
                  <a:tcPr marL="142875" marR="142875" marT="114300" marB="114300" anchor="ctr">
                    <a:solidFill>
                      <a:srgbClr val="1539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现有交付</a:t>
                      </a:r>
                    </a:p>
                  </a:txBody>
                  <a:tcPr marL="142875" marR="142875" marT="114300" marB="114300" anchor="ctr">
                    <a:solidFill>
                      <a:srgbClr val="1539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作用</a:t>
                      </a:r>
                    </a:p>
                  </a:txBody>
                  <a:tcPr marL="142875" marR="142875" marT="114300" marB="114300" anchor="ctr">
                    <a:solidFill>
                      <a:srgbClr val="1539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3425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539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专业知识库</a:t>
                      </a:r>
                    </a:p>
                  </a:txBody>
                  <a:tcPr marL="142875" marR="142875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539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71张知识卡及资料来源</a:t>
                      </a:r>
                    </a:p>
                  </a:txBody>
                  <a:tcPr marL="142875" marR="142875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539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支持概念与方法检索</a:t>
                      </a:r>
                    </a:p>
                  </a:txBody>
                  <a:tcPr marL="142875" marR="142875" marT="114300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3425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539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任务算法</a:t>
                      </a:r>
                    </a:p>
                  </a:txBody>
                  <a:tcPr marL="142875" marR="142875" marT="114300" marB="114300" anchor="ctr">
                    <a:solidFill>
                      <a:srgbClr val="F0F5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539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Agent规划、工具执行与记录</a:t>
                      </a:r>
                    </a:p>
                  </a:txBody>
                  <a:tcPr marL="142875" marR="142875" marT="114300" marB="114300" anchor="ctr">
                    <a:solidFill>
                      <a:srgbClr val="F0F5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539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连接知识依据与数值计算</a:t>
                      </a:r>
                    </a:p>
                  </a:txBody>
                  <a:tcPr marL="142875" marR="142875" marT="114300" marB="114300" anchor="ctr">
                    <a:solidFill>
                      <a:srgbClr val="F0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3425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539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应用与材料</a:t>
                      </a:r>
                    </a:p>
                  </a:txBody>
                  <a:tcPr marL="142875" marR="142875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539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独立前后端、源码包与研究报告</a:t>
                      </a:r>
                    </a:p>
                  </a:txBody>
                  <a:tcPr marL="142875" marR="142875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0" dirty="0" err="1">
                          <a:solidFill>
                            <a:srgbClr val="1539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支持本机使用和源码移交</a:t>
                      </a:r>
                      <a:endParaRPr sz="1950" b="0" dirty="0">
                        <a:solidFill>
                          <a:srgbClr val="15394A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142875" marR="142875" marT="114300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296493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1296</Words>
  <Application>Microsoft Office PowerPoint</Application>
  <DocSecurity>0</DocSecurity>
  <PresentationFormat>宽屏</PresentationFormat>
  <Paragraphs>227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3" baseType="lpstr">
      <vt:lpstr>Microsoft YaHei</vt:lpstr>
      <vt:lpstr>Aptos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hx z</cp:lastModifiedBy>
  <cp:revision>5</cp:revision>
  <dcterms:created xsi:type="dcterms:W3CDTF">2026-10-12T08:59:22Z</dcterms:created>
  <dcterms:modified xsi:type="dcterms:W3CDTF">2026-10-12T10:34:09Z</dcterms:modified>
</cp:coreProperties>
</file>